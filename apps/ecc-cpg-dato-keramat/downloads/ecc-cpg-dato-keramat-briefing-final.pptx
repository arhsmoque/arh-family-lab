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30" y="2179290"/>
            <a:ext cx="4190970" cy="42672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48197" y="2133570"/>
            <a:ext cx="294703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561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 ATTENTION</a:t>
            </a:r>
            <a:endParaRPr lang="en-US" sz="1320" dirty="0"/>
          </a:p>
        </p:txBody>
      </p:sp>
      <p:sp>
        <p:nvSpPr>
          <p:cNvPr id="7" name="Text 3"/>
          <p:cNvSpPr/>
          <p:nvPr/>
        </p:nvSpPr>
        <p:spPr>
          <a:xfrm>
            <a:off x="8871875" y="2217763"/>
            <a:ext cx="5286756" cy="1559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774"/>
              </a:lnSpc>
              <a:buNone/>
            </a:pPr>
            <a:r>
              <a:rPr lang="en-US" sz="94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68 -&gt; 12</a:t>
            </a:r>
            <a:endParaRPr lang="en-US" sz="9480" dirty="0"/>
          </a:p>
        </p:txBody>
      </p:sp>
      <p:sp>
        <p:nvSpPr>
          <p:cNvPr id="8" name="Text 4"/>
          <p:cNvSpPr/>
          <p:nvPr/>
        </p:nvSpPr>
        <p:spPr>
          <a:xfrm>
            <a:off x="792510" y="2179290"/>
            <a:ext cx="832104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spc="42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KLINIK PERGIGIAN DATO KERAMAT</a:t>
            </a:r>
            <a:endParaRPr lang="en-US" sz="1560" dirty="0"/>
          </a:p>
        </p:txBody>
      </p:sp>
      <p:sp>
        <p:nvSpPr>
          <p:cNvPr id="9" name="Text 5"/>
          <p:cNvSpPr/>
          <p:nvPr/>
        </p:nvSpPr>
        <p:spPr>
          <a:xfrm>
            <a:off x="792510" y="2592021"/>
            <a:ext cx="3279648" cy="1460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800" b="1" spc="-146" kern="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EARLY</a:t>
            </a:r>
            <a:endParaRPr lang="en-US" sz="7800" dirty="0"/>
          </a:p>
        </p:txBody>
      </p:sp>
      <p:sp>
        <p:nvSpPr>
          <p:cNvPr id="10" name="Text 6"/>
          <p:cNvSpPr/>
          <p:nvPr/>
        </p:nvSpPr>
        <p:spPr>
          <a:xfrm>
            <a:off x="792510" y="3582591"/>
            <a:ext cx="6092556" cy="1460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800" b="1" spc="-146" kern="0" dirty="0">
                <a:solidFill>
                  <a:srgbClr val="5FA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CHILDHOOD</a:t>
            </a:r>
            <a:endParaRPr lang="en-US" sz="7800" dirty="0"/>
          </a:p>
        </p:txBody>
      </p:sp>
      <p:sp>
        <p:nvSpPr>
          <p:cNvPr id="11" name="Text 7"/>
          <p:cNvSpPr/>
          <p:nvPr/>
        </p:nvSpPr>
        <p:spPr>
          <a:xfrm>
            <a:off x="6793626" y="3582591"/>
            <a:ext cx="3913632" cy="1460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800" b="1" spc="-146" kern="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CARIES</a:t>
            </a:r>
            <a:endParaRPr lang="en-US" sz="7800" dirty="0"/>
          </a:p>
        </p:txBody>
      </p:sp>
      <p:sp>
        <p:nvSpPr>
          <p:cNvPr id="12" name="Text 8"/>
          <p:cNvSpPr/>
          <p:nvPr/>
        </p:nvSpPr>
        <p:spPr>
          <a:xfrm>
            <a:off x="792510" y="4983480"/>
            <a:ext cx="83210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spc="22" kern="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Ringkasan CPG untuk tindakan klinik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792510" y="6073170"/>
            <a:ext cx="3894887" cy="3886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2510" y="6073170"/>
            <a:ext cx="46372" cy="388620"/>
          </a:xfrm>
          <a:prstGeom prst="rect">
            <a:avLst/>
          </a:prstGeom>
          <a:solidFill>
            <a:srgbClr val="86D62B"/>
          </a:solidFill>
          <a:ln w="12700">
            <a:solidFill>
              <a:srgbClr val="86D62B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2510" y="6073170"/>
            <a:ext cx="407365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ECC boleh dicegah lebih awal.</a:t>
            </a:r>
            <a:endParaRPr lang="en-US" sz="2040" dirty="0"/>
          </a:p>
        </p:txBody>
      </p:sp>
      <p:sp>
        <p:nvSpPr>
          <p:cNvPr id="16" name="Shape 12"/>
          <p:cNvSpPr/>
          <p:nvPr/>
        </p:nvSpPr>
        <p:spPr>
          <a:xfrm>
            <a:off x="792510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26048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259769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93398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727119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960748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194469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28006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661727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895356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129077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362706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596427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829964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063685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297314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31035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764664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998385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231922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465643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699272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932993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166622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400343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33881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867601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101230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34951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568580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802301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035930" y="6492240"/>
            <a:ext cx="195590" cy="457200"/>
          </a:xfrm>
          <a:prstGeom prst="roundRect">
            <a:avLst>
              <a:gd name="adj" fmla="val 11854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269559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503188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736818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970447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9203985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9437614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9671243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9904781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0138410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0372039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0605577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839206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835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1306373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1540002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1773632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2007169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2240798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2474428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2708057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2941595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3175224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3408853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3642391" y="6492240"/>
            <a:ext cx="195499" cy="457200"/>
          </a:xfrm>
          <a:prstGeom prst="roundRect">
            <a:avLst>
              <a:gd name="adj" fmla="val 118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792510" y="7071330"/>
            <a:ext cx="274937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Friendly, structured and</a:t>
            </a:r>
            <a:endParaRPr lang="en-US" sz="1620" dirty="0"/>
          </a:p>
        </p:txBody>
      </p:sp>
      <p:sp>
        <p:nvSpPr>
          <p:cNvPr id="73" name="Text 69"/>
          <p:cNvSpPr/>
          <p:nvPr/>
        </p:nvSpPr>
        <p:spPr>
          <a:xfrm>
            <a:off x="792510" y="7368510"/>
            <a:ext cx="158076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evidence-led.</a:t>
            </a:r>
            <a:endParaRPr lang="en-US" sz="1620" dirty="0"/>
          </a:p>
        </p:txBody>
      </p:sp>
      <p:sp>
        <p:nvSpPr>
          <p:cNvPr id="74" name="Text 70"/>
          <p:cNvSpPr/>
          <p:nvPr/>
        </p:nvSpPr>
        <p:spPr>
          <a:xfrm>
            <a:off x="5091082" y="7109460"/>
            <a:ext cx="121672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spc="210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AUDIENCE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3683935" y="7368510"/>
            <a:ext cx="262387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KKIA / IM / Dental Team</a:t>
            </a:r>
            <a:endParaRPr lang="en-US" sz="1620" dirty="0"/>
          </a:p>
        </p:txBody>
      </p:sp>
      <p:sp>
        <p:nvSpPr>
          <p:cNvPr id="76" name="Text 72"/>
          <p:cNvSpPr/>
          <p:nvPr/>
        </p:nvSpPr>
        <p:spPr>
          <a:xfrm>
            <a:off x="7441730" y="7109460"/>
            <a:ext cx="121672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spc="210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</a:t>
            </a:r>
            <a:endParaRPr lang="en-US" sz="1200" dirty="0"/>
          </a:p>
        </p:txBody>
      </p:sp>
      <p:sp>
        <p:nvSpPr>
          <p:cNvPr id="77" name="Text 73"/>
          <p:cNvSpPr/>
          <p:nvPr/>
        </p:nvSpPr>
        <p:spPr>
          <a:xfrm>
            <a:off x="6427546" y="7368510"/>
            <a:ext cx="22309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Tataterbit kerajaan</a:t>
            </a:r>
            <a:endParaRPr lang="en-US" sz="1620" dirty="0"/>
          </a:p>
        </p:txBody>
      </p:sp>
      <p:sp>
        <p:nvSpPr>
          <p:cNvPr id="78" name="Text 74"/>
          <p:cNvSpPr/>
          <p:nvPr/>
        </p:nvSpPr>
        <p:spPr>
          <a:xfrm>
            <a:off x="10707441" y="7109460"/>
            <a:ext cx="78409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spc="210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FOCUS</a:t>
            </a:r>
            <a:endParaRPr lang="en-US" sz="1200" dirty="0"/>
          </a:p>
        </p:txBody>
      </p:sp>
      <p:sp>
        <p:nvSpPr>
          <p:cNvPr id="79" name="Text 75"/>
          <p:cNvSpPr/>
          <p:nvPr/>
        </p:nvSpPr>
        <p:spPr>
          <a:xfrm>
            <a:off x="8742167" y="7368510"/>
            <a:ext cx="274937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Risk, prevention, action</a:t>
            </a:r>
            <a:endParaRPr lang="en-US" sz="1620" dirty="0"/>
          </a:p>
        </p:txBody>
      </p:sp>
      <p:sp>
        <p:nvSpPr>
          <p:cNvPr id="80" name="Text 76"/>
          <p:cNvSpPr/>
          <p:nvPr/>
        </p:nvSpPr>
        <p:spPr>
          <a:xfrm>
            <a:off x="12765375" y="7109460"/>
            <a:ext cx="107251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spc="210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SETTING</a:t>
            </a:r>
            <a:endParaRPr lang="en-US" sz="1200" dirty="0"/>
          </a:p>
        </p:txBody>
      </p:sp>
      <p:sp>
        <p:nvSpPr>
          <p:cNvPr id="81" name="Text 77"/>
          <p:cNvSpPr/>
          <p:nvPr/>
        </p:nvSpPr>
        <p:spPr>
          <a:xfrm>
            <a:off x="11541145" y="7368510"/>
            <a:ext cx="229674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 dental clinic</a:t>
            </a:r>
            <a:endParaRPr lang="en-US" sz="1620" dirty="0"/>
          </a:p>
        </p:txBody>
      </p:sp>
      <p:sp>
        <p:nvSpPr>
          <p:cNvPr id="82" name="Shape 78"/>
          <p:cNvSpPr/>
          <p:nvPr/>
        </p:nvSpPr>
        <p:spPr>
          <a:xfrm>
            <a:off x="792510" y="594360"/>
            <a:ext cx="472470" cy="472470"/>
          </a:xfrm>
          <a:prstGeom prst="roundRect">
            <a:avLst>
              <a:gd name="adj" fmla="val 27998"/>
            </a:avLst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59" y="688909"/>
            <a:ext cx="283373" cy="283373"/>
          </a:xfrm>
          <a:prstGeom prst="rect">
            <a:avLst/>
          </a:prstGeom>
        </p:spPr>
      </p:pic>
      <p:sp>
        <p:nvSpPr>
          <p:cNvPr id="84" name="Text 79"/>
          <p:cNvSpPr/>
          <p:nvPr/>
        </p:nvSpPr>
        <p:spPr>
          <a:xfrm>
            <a:off x="1371600" y="673730"/>
            <a:ext cx="279425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8"/>
              </a:lnSpc>
              <a:buNone/>
            </a:pPr>
            <a:r>
              <a:rPr lang="en-US" sz="1265" b="1" spc="221" kern="0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 NUR DIYANA RAMLI</a:t>
            </a:r>
            <a:endParaRPr lang="en-US" sz="1265" dirty="0"/>
          </a:p>
        </p:txBody>
      </p:sp>
      <p:sp>
        <p:nvSpPr>
          <p:cNvPr id="85" name="Text 80"/>
          <p:cNvSpPr/>
          <p:nvPr/>
        </p:nvSpPr>
        <p:spPr>
          <a:xfrm>
            <a:off x="1371600" y="850026"/>
            <a:ext cx="308562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81"/>
              </a:lnSpc>
              <a:buNone/>
            </a:pPr>
            <a:r>
              <a:rPr lang="en-US" sz="744" spc="24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Pegawai Pergigian | CPG Brief</a:t>
            </a:r>
            <a:endParaRPr lang="en-US" sz="744" dirty="0"/>
          </a:p>
        </p:txBody>
      </p:sp>
      <p:sp>
        <p:nvSpPr>
          <p:cNvPr id="86" name="Shape 81"/>
          <p:cNvSpPr/>
          <p:nvPr/>
        </p:nvSpPr>
        <p:spPr>
          <a:xfrm>
            <a:off x="12190049" y="632490"/>
            <a:ext cx="1647840" cy="396210"/>
          </a:xfrm>
          <a:prstGeom prst="roundRect">
            <a:avLst>
              <a:gd name="adj" fmla="val 140447"/>
            </a:avLst>
          </a:prstGeom>
          <a:solidFill>
            <a:srgbClr val="FAFAF6">
              <a:alpha val="7000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12365340" y="796260"/>
            <a:ext cx="68580" cy="6858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12510089" y="723930"/>
            <a:ext cx="150491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CPG BRIEFING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3167360" cy="12316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6009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364068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1063937"/>
            <a:ext cx="3950208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Satu Aliran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10372588" y="1292504"/>
            <a:ext cx="387019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Risiko kepada tindakan susulan.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72670"/>
            <a:ext cx="90281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Isi CPG diringkaskan supaya mudah diingat dan digunakan.</a:t>
            </a:r>
            <a:endParaRPr lang="en-US" sz="19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6570"/>
            <a:ext cx="3166110" cy="1783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7710" y="351285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7710" y="412239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Kenapa ECC</a:t>
            </a:r>
            <a:endParaRPr lang="en-US" sz="2160" dirty="0"/>
          </a:p>
        </p:txBody>
      </p:sp>
      <p:sp>
        <p:nvSpPr>
          <p:cNvPr id="13" name="Text 10"/>
          <p:cNvSpPr/>
          <p:nvPr/>
        </p:nvSpPr>
        <p:spPr>
          <a:xfrm>
            <a:off x="96771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BURDEN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40" y="3230850"/>
            <a:ext cx="3166110" cy="1783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4378" y="4125773"/>
            <a:ext cx="1742846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86D62B">
                    <a:alpha val="16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9000" dirty="0"/>
          </a:p>
        </p:txBody>
      </p:sp>
      <p:sp>
        <p:nvSpPr>
          <p:cNvPr id="16" name="Text 12"/>
          <p:cNvSpPr/>
          <p:nvPr/>
        </p:nvSpPr>
        <p:spPr>
          <a:xfrm>
            <a:off x="6630589" y="3467130"/>
            <a:ext cx="37581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</a:t>
            </a:r>
            <a:endParaRPr lang="en-US" sz="960" dirty="0"/>
          </a:p>
        </p:txBody>
      </p:sp>
      <p:sp>
        <p:nvSpPr>
          <p:cNvPr id="17" name="Text 13"/>
          <p:cNvSpPr/>
          <p:nvPr/>
        </p:nvSpPr>
        <p:spPr>
          <a:xfrm>
            <a:off x="4301520" y="3467130"/>
            <a:ext cx="42245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301520" y="407667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Definisi</a:t>
            </a:r>
            <a:endParaRPr lang="en-US" sz="2160" dirty="0"/>
          </a:p>
        </p:txBody>
      </p:sp>
      <p:sp>
        <p:nvSpPr>
          <p:cNvPr id="19" name="Text 15"/>
          <p:cNvSpPr/>
          <p:nvPr/>
        </p:nvSpPr>
        <p:spPr>
          <a:xfrm>
            <a:off x="4301520" y="454914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FFFFFF">
                    <a:alpha val="6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LENS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50" y="3276570"/>
            <a:ext cx="3166110" cy="1783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35240" y="3512850"/>
            <a:ext cx="42565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635240" y="412239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Risiko</a:t>
            </a:r>
            <a:endParaRPr lang="en-US" sz="2160" dirty="0"/>
          </a:p>
        </p:txBody>
      </p:sp>
      <p:sp>
        <p:nvSpPr>
          <p:cNvPr id="23" name="Text 18"/>
          <p:cNvSpPr/>
          <p:nvPr/>
        </p:nvSpPr>
        <p:spPr>
          <a:xfrm>
            <a:off x="763524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PATTERN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770" y="3276570"/>
            <a:ext cx="3166110" cy="1783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68960" y="3512850"/>
            <a:ext cx="43214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0968960" y="412239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Semakan</a:t>
            </a:r>
            <a:endParaRPr lang="en-US" sz="2160" dirty="0"/>
          </a:p>
        </p:txBody>
      </p:sp>
      <p:sp>
        <p:nvSpPr>
          <p:cNvPr id="27" name="Text 21"/>
          <p:cNvSpPr/>
          <p:nvPr/>
        </p:nvSpPr>
        <p:spPr>
          <a:xfrm>
            <a:off x="1096896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ASSESSMENT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27350"/>
            <a:ext cx="3166110" cy="17830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7710" y="5463540"/>
            <a:ext cx="4239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967710" y="607317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Pencegahan</a:t>
            </a:r>
            <a:endParaRPr lang="en-US" sz="2160" dirty="0"/>
          </a:p>
        </p:txBody>
      </p:sp>
      <p:sp>
        <p:nvSpPr>
          <p:cNvPr id="31" name="Text 24"/>
          <p:cNvSpPr/>
          <p:nvPr/>
        </p:nvSpPr>
        <p:spPr>
          <a:xfrm>
            <a:off x="96771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PREVENTION</a:t>
            </a:r>
            <a:endParaRPr lang="en-US" sz="12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40" y="5227350"/>
            <a:ext cx="3166110" cy="17830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301520" y="5463540"/>
            <a:ext cx="42793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4301520" y="607317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Pendidikan</a:t>
            </a:r>
            <a:endParaRPr lang="en-US" sz="2160" dirty="0"/>
          </a:p>
        </p:txBody>
      </p:sp>
      <p:sp>
        <p:nvSpPr>
          <p:cNvPr id="35" name="Text 27"/>
          <p:cNvSpPr/>
          <p:nvPr/>
        </p:nvSpPr>
        <p:spPr>
          <a:xfrm>
            <a:off x="430152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OHE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050" y="5227350"/>
            <a:ext cx="3166110" cy="17830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635240" y="5463540"/>
            <a:ext cx="40873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29"/>
          <p:cNvSpPr/>
          <p:nvPr/>
        </p:nvSpPr>
        <p:spPr>
          <a:xfrm>
            <a:off x="7635240" y="607317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Rawatan</a:t>
            </a:r>
            <a:endParaRPr lang="en-US" sz="2160" dirty="0"/>
          </a:p>
        </p:txBody>
      </p:sp>
      <p:sp>
        <p:nvSpPr>
          <p:cNvPr id="39" name="Text 30"/>
          <p:cNvSpPr/>
          <p:nvPr/>
        </p:nvSpPr>
        <p:spPr>
          <a:xfrm>
            <a:off x="763524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CARE OPTIONS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2770" y="5227350"/>
            <a:ext cx="3166110" cy="17830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968960" y="5463540"/>
            <a:ext cx="4239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32"/>
          <p:cNvSpPr/>
          <p:nvPr/>
        </p:nvSpPr>
        <p:spPr>
          <a:xfrm>
            <a:off x="10968960" y="607317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Tindakan</a:t>
            </a:r>
            <a:endParaRPr lang="en-US" sz="2160" dirty="0"/>
          </a:p>
        </p:txBody>
      </p:sp>
      <p:sp>
        <p:nvSpPr>
          <p:cNvPr id="43" name="Text 33"/>
          <p:cNvSpPr/>
          <p:nvPr/>
        </p:nvSpPr>
        <p:spPr>
          <a:xfrm>
            <a:off x="1096896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CLINIC FLOW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944850" y="7399050"/>
            <a:ext cx="27905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LESS, ACT CLEARER</a:t>
            </a:r>
            <a:endParaRPr lang="en-US" sz="1620" dirty="0"/>
          </a:p>
        </p:txBody>
      </p:sp>
      <p:sp>
        <p:nvSpPr>
          <p:cNvPr id="46" name="Shape 36"/>
          <p:cNvSpPr/>
          <p:nvPr/>
        </p:nvSpPr>
        <p:spPr>
          <a:xfrm>
            <a:off x="117653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1181935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1187348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1192752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1198174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1203579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1208992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1214405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1219818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12252228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1230645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12360493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1241462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1246866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1252289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257693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263106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268519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273932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1279337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1284759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1290163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1295576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1300980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13064033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13118074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13172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1322633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1328047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1333451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1338873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1344277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134969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1355095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1360499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1365912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13713165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13767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1382124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1387528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461" y="2139696"/>
            <a:ext cx="8192933" cy="526685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30" y="1524030"/>
            <a:ext cx="5105370" cy="57911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640080"/>
            <a:ext cx="13167360" cy="105604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1684528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640080"/>
            <a:ext cx="4569257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EPIDEMIOLOGY | MALAYSIA</a:t>
            </a:r>
            <a:endParaRPr lang="en-US" sz="1320" dirty="0"/>
          </a:p>
        </p:txBody>
      </p:sp>
      <p:sp>
        <p:nvSpPr>
          <p:cNvPr id="9" name="Text 5"/>
          <p:cNvSpPr/>
          <p:nvPr/>
        </p:nvSpPr>
        <p:spPr>
          <a:xfrm>
            <a:off x="731520" y="1056036"/>
            <a:ext cx="4569257" cy="466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6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Beban Masih Tinggi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0432755" y="1117031"/>
            <a:ext cx="38176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 turun, kadar masih besar.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2587020"/>
            <a:ext cx="48765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41150" y="2514600"/>
            <a:ext cx="208727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Trend turun, kadar masih besar.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627278" y="2539018"/>
            <a:ext cx="7261860" cy="3723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696"/>
              </a:lnSpc>
              <a:buNone/>
            </a:pPr>
            <a:r>
              <a:rPr lang="en-US" sz="228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71.2</a:t>
            </a:r>
            <a:endParaRPr lang="en-US" sz="22800" dirty="0"/>
          </a:p>
        </p:txBody>
      </p:sp>
      <p:sp>
        <p:nvSpPr>
          <p:cNvPr id="14" name="Text 10"/>
          <p:cNvSpPr/>
          <p:nvPr/>
        </p:nvSpPr>
        <p:spPr>
          <a:xfrm>
            <a:off x="6441674" y="4234266"/>
            <a:ext cx="917600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9"/>
              </a:lnSpc>
              <a:buNone/>
            </a:pPr>
            <a:r>
              <a:rPr lang="en-US" sz="684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%</a:t>
            </a:r>
            <a:endParaRPr lang="en-US" sz="6840" dirty="0"/>
          </a:p>
        </p:txBody>
      </p:sp>
      <p:sp>
        <p:nvSpPr>
          <p:cNvPr id="15" name="Text 11"/>
          <p:cNvSpPr/>
          <p:nvPr/>
        </p:nvSpPr>
        <p:spPr>
          <a:xfrm>
            <a:off x="731520" y="5346131"/>
            <a:ext cx="7711410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NOHPS 2015</a:t>
            </a:r>
            <a:endParaRPr lang="en-US" sz="2280" dirty="0"/>
          </a:p>
        </p:txBody>
      </p:sp>
      <p:sp>
        <p:nvSpPr>
          <p:cNvPr id="16" name="Shape 12"/>
          <p:cNvSpPr/>
          <p:nvPr/>
        </p:nvSpPr>
        <p:spPr>
          <a:xfrm>
            <a:off x="731520" y="5775990"/>
            <a:ext cx="2071482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37260" y="5775990"/>
            <a:ext cx="51937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2005</a:t>
            </a:r>
            <a:endParaRPr lang="en-US" sz="1260" dirty="0"/>
          </a:p>
        </p:txBody>
      </p:sp>
      <p:sp>
        <p:nvSpPr>
          <p:cNvPr id="19" name="Text 15"/>
          <p:cNvSpPr/>
          <p:nvPr/>
        </p:nvSpPr>
        <p:spPr>
          <a:xfrm>
            <a:off x="937260" y="6034811"/>
            <a:ext cx="1088441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76.2</a:t>
            </a:r>
            <a:endParaRPr lang="en-US" sz="3120" dirty="0"/>
          </a:p>
        </p:txBody>
      </p:sp>
      <p:sp>
        <p:nvSpPr>
          <p:cNvPr id="20" name="Text 16"/>
          <p:cNvSpPr/>
          <p:nvPr/>
        </p:nvSpPr>
        <p:spPr>
          <a:xfrm>
            <a:off x="1838127" y="6248370"/>
            <a:ext cx="108051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 prevalence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229661" y="5775990"/>
            <a:ext cx="1729953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29661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35401" y="5775990"/>
            <a:ext cx="51937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2015</a:t>
            </a:r>
            <a:endParaRPr lang="en-US" sz="1260" dirty="0"/>
          </a:p>
        </p:txBody>
      </p:sp>
      <p:sp>
        <p:nvSpPr>
          <p:cNvPr id="24" name="Text 20"/>
          <p:cNvSpPr/>
          <p:nvPr/>
        </p:nvSpPr>
        <p:spPr>
          <a:xfrm>
            <a:off x="3435401" y="6034811"/>
            <a:ext cx="834847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4.8</a:t>
            </a:r>
            <a:endParaRPr lang="en-US" sz="3120" dirty="0"/>
          </a:p>
        </p:txBody>
      </p:sp>
      <p:sp>
        <p:nvSpPr>
          <p:cNvPr id="25" name="Text 21"/>
          <p:cNvSpPr/>
          <p:nvPr/>
        </p:nvSpPr>
        <p:spPr>
          <a:xfrm>
            <a:off x="4090660" y="6248370"/>
            <a:ext cx="108051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dft severity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386365" y="5775990"/>
            <a:ext cx="11509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86365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92105" y="5775990"/>
            <a:ext cx="38816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</a:t>
            </a:r>
            <a:endParaRPr lang="en-US" sz="1260" dirty="0"/>
          </a:p>
        </p:txBody>
      </p:sp>
      <p:sp>
        <p:nvSpPr>
          <p:cNvPr id="29" name="Text 25"/>
          <p:cNvSpPr/>
          <p:nvPr/>
        </p:nvSpPr>
        <p:spPr>
          <a:xfrm>
            <a:off x="5592105" y="6034811"/>
            <a:ext cx="582839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&lt;6</a:t>
            </a:r>
            <a:endParaRPr lang="en-US" sz="3120" dirty="0"/>
          </a:p>
        </p:txBody>
      </p:sp>
      <p:sp>
        <p:nvSpPr>
          <p:cNvPr id="30" name="Text 26"/>
          <p:cNvSpPr/>
          <p:nvPr/>
        </p:nvSpPr>
        <p:spPr>
          <a:xfrm>
            <a:off x="6129223" y="6248370"/>
            <a:ext cx="52882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years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31520" y="6804690"/>
            <a:ext cx="198150" cy="1527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36290" y="6804690"/>
            <a:ext cx="405627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Prevalens turun dari 76.2% pada 2005.</a:t>
            </a:r>
            <a:endParaRPr lang="en-US" sz="1560" dirty="0"/>
          </a:p>
        </p:txBody>
      </p:sp>
      <p:sp>
        <p:nvSpPr>
          <p:cNvPr id="33" name="Shape 29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44850" y="7444770"/>
            <a:ext cx="263621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Prevention remains key.</a:t>
            </a:r>
            <a:endParaRPr lang="en-US" sz="1620" dirty="0"/>
          </a:p>
        </p:txBody>
      </p:sp>
      <p:sp>
        <p:nvSpPr>
          <p:cNvPr id="35" name="Shape 31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16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009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4923511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DEFINITION + CLINICAL LENS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917759"/>
            <a:ext cx="1338682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ECC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2124334" y="1318290"/>
            <a:ext cx="419252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2040" spc="51" kern="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2040" dirty="0"/>
          </a:p>
        </p:txBody>
      </p:sp>
      <p:sp>
        <p:nvSpPr>
          <p:cNvPr id="10" name="Text 7"/>
          <p:cNvSpPr/>
          <p:nvPr/>
        </p:nvSpPr>
        <p:spPr>
          <a:xfrm>
            <a:off x="2452055" y="1318290"/>
            <a:ext cx="2664257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2040" spc="51" kern="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Lebih Dari Lubang</a:t>
            </a:r>
            <a:endParaRPr lang="en-US" sz="2040" dirty="0"/>
          </a:p>
        </p:txBody>
      </p:sp>
      <p:sp>
        <p:nvSpPr>
          <p:cNvPr id="11" name="Text 8"/>
          <p:cNvSpPr/>
          <p:nvPr/>
        </p:nvSpPr>
        <p:spPr>
          <a:xfrm>
            <a:off x="10155326" y="1292504"/>
            <a:ext cx="43205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Karies, hilang, tampalan gigi susu.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209830"/>
            <a:ext cx="11466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Bawah 72 bulan; tanda awal boleh bermula sebagai white spot.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699425" y="3688027"/>
            <a:ext cx="1410005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4"/>
              </a:lnSpc>
              <a:buNone/>
            </a:pPr>
            <a:r>
              <a:rPr lang="en-US" sz="72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&lt;6</a:t>
            </a:r>
            <a:endParaRPr lang="en-US" sz="7200" dirty="0"/>
          </a:p>
        </p:txBody>
      </p:sp>
      <p:sp>
        <p:nvSpPr>
          <p:cNvPr id="14" name="Text 11"/>
          <p:cNvSpPr/>
          <p:nvPr/>
        </p:nvSpPr>
        <p:spPr>
          <a:xfrm>
            <a:off x="1982328" y="4268053"/>
            <a:ext cx="73837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80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4659600"/>
            <a:ext cx="132953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ECC age group</a:t>
            </a:r>
            <a:endParaRPr lang="en-US" sz="1380" dirty="0"/>
          </a:p>
        </p:txBody>
      </p:sp>
      <p:sp>
        <p:nvSpPr>
          <p:cNvPr id="16" name="Shape 13"/>
          <p:cNvSpPr/>
          <p:nvPr/>
        </p:nvSpPr>
        <p:spPr>
          <a:xfrm>
            <a:off x="731520" y="5193060"/>
            <a:ext cx="4668926" cy="133648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5193060"/>
            <a:ext cx="4668926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9425" y="5298834"/>
            <a:ext cx="1410005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4"/>
              </a:lnSpc>
              <a:buNone/>
            </a:pPr>
            <a:r>
              <a:rPr lang="en-US" sz="72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&lt;3</a:t>
            </a: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1982328" y="5878860"/>
            <a:ext cx="73837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80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31520" y="6270407"/>
            <a:ext cx="166778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any smooth caries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5949086" y="3291840"/>
            <a:ext cx="804123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0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CLINICAL READING</a:t>
            </a:r>
            <a:endParaRPr lang="en-US" sz="114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086" y="3650010"/>
            <a:ext cx="1900580" cy="8839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25931" y="376806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6503944" y="376806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131966" y="4164360"/>
            <a:ext cx="115793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Non-cavitated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7880116" y="3650010"/>
            <a:ext cx="2412370" cy="883950"/>
          </a:xfrm>
          <a:prstGeom prst="rect">
            <a:avLst/>
          </a:prstGeom>
          <a:solidFill>
            <a:srgbClr val="B6E68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56961" y="376806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32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8435066" y="376806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8062996" y="4164360"/>
            <a:ext cx="839419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Cavitated</a:t>
            </a:r>
            <a:endParaRPr lang="en-US" sz="1140" dirty="0"/>
          </a:p>
        </p:txBody>
      </p:sp>
      <p:sp>
        <p:nvSpPr>
          <p:cNvPr id="30" name="Shape 26"/>
          <p:cNvSpPr/>
          <p:nvPr/>
        </p:nvSpPr>
        <p:spPr>
          <a:xfrm>
            <a:off x="10322936" y="3650010"/>
            <a:ext cx="1644823" cy="883950"/>
          </a:xfrm>
          <a:prstGeom prst="rect">
            <a:avLst/>
          </a:prstGeom>
          <a:solidFill>
            <a:srgbClr val="D1EFA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499781" y="376806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10877794" y="376806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2400" dirty="0"/>
          </a:p>
        </p:txBody>
      </p:sp>
      <p:sp>
        <p:nvSpPr>
          <p:cNvPr id="33" name="Text 29"/>
          <p:cNvSpPr/>
          <p:nvPr/>
        </p:nvSpPr>
        <p:spPr>
          <a:xfrm>
            <a:off x="10505816" y="4164360"/>
            <a:ext cx="68016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Missing</a:t>
            </a:r>
            <a:endParaRPr lang="en-US" sz="114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998300" y="3650010"/>
            <a:ext cx="1900580" cy="8839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175145" y="376806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</a:t>
            </a:r>
            <a:endParaRPr lang="en-US" sz="2400" dirty="0"/>
          </a:p>
        </p:txBody>
      </p:sp>
      <p:sp>
        <p:nvSpPr>
          <p:cNvPr id="36" name="Text 31"/>
          <p:cNvSpPr/>
          <p:nvPr/>
        </p:nvSpPr>
        <p:spPr>
          <a:xfrm>
            <a:off x="12553158" y="376806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2400" dirty="0"/>
          </a:p>
        </p:txBody>
      </p:sp>
      <p:sp>
        <p:nvSpPr>
          <p:cNvPr id="37" name="Text 32"/>
          <p:cNvSpPr/>
          <p:nvPr/>
        </p:nvSpPr>
        <p:spPr>
          <a:xfrm>
            <a:off x="12181180" y="4164360"/>
            <a:ext cx="60053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Filled</a:t>
            </a:r>
            <a:endParaRPr lang="en-US" sz="114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864" y="3517788"/>
            <a:ext cx="4423593" cy="471181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13876" y="4960620"/>
            <a:ext cx="146569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Non-cavitated</a:t>
            </a:r>
            <a:endParaRPr lang="en-US" sz="1620" dirty="0"/>
          </a:p>
        </p:txBody>
      </p:sp>
      <p:sp>
        <p:nvSpPr>
          <p:cNvPr id="40" name="Text 34"/>
          <p:cNvSpPr/>
          <p:nvPr/>
        </p:nvSpPr>
        <p:spPr>
          <a:xfrm>
            <a:off x="6413876" y="5251399"/>
            <a:ext cx="868032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WHITE SPOT</a:t>
            </a:r>
            <a:endParaRPr lang="en-US" sz="780" dirty="0"/>
          </a:p>
        </p:txBody>
      </p:sp>
      <p:sp>
        <p:nvSpPr>
          <p:cNvPr id="41" name="Text 35"/>
          <p:cNvSpPr/>
          <p:nvPr/>
        </p:nvSpPr>
        <p:spPr>
          <a:xfrm>
            <a:off x="6155924" y="5630465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</a:t>
            </a:r>
            <a:endParaRPr lang="en-US" sz="3480" dirty="0"/>
          </a:p>
        </p:txBody>
      </p:sp>
      <p:sp>
        <p:nvSpPr>
          <p:cNvPr id="42" name="Text 36"/>
          <p:cNvSpPr/>
          <p:nvPr/>
        </p:nvSpPr>
        <p:spPr>
          <a:xfrm>
            <a:off x="6704015" y="563046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3480" dirty="0"/>
          </a:p>
        </p:txBody>
      </p:sp>
      <p:sp>
        <p:nvSpPr>
          <p:cNvPr id="43" name="Text 37"/>
          <p:cNvSpPr/>
          <p:nvPr/>
        </p:nvSpPr>
        <p:spPr>
          <a:xfrm>
            <a:off x="6170097" y="6400800"/>
            <a:ext cx="146505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Perubahan enamel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170097" y="6614130"/>
            <a:ext cx="52882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awal.</a:t>
            </a:r>
            <a:endParaRPr lang="en-US" sz="12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574" y="4838730"/>
            <a:ext cx="1873240" cy="224787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439363" y="5006340"/>
            <a:ext cx="11466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Cavitated</a:t>
            </a:r>
            <a:endParaRPr lang="en-US" sz="1620" dirty="0"/>
          </a:p>
        </p:txBody>
      </p:sp>
      <p:sp>
        <p:nvSpPr>
          <p:cNvPr id="47" name="Text 40"/>
          <p:cNvSpPr/>
          <p:nvPr/>
        </p:nvSpPr>
        <p:spPr>
          <a:xfrm>
            <a:off x="8439363" y="5297119"/>
            <a:ext cx="576796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LESION</a:t>
            </a:r>
            <a:endParaRPr lang="en-US" sz="780" dirty="0"/>
          </a:p>
        </p:txBody>
      </p:sp>
      <p:sp>
        <p:nvSpPr>
          <p:cNvPr id="48" name="Text 41"/>
          <p:cNvSpPr/>
          <p:nvPr/>
        </p:nvSpPr>
        <p:spPr>
          <a:xfrm>
            <a:off x="8181411" y="5676185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32</a:t>
            </a:r>
            <a:endParaRPr lang="en-US" sz="3480" dirty="0"/>
          </a:p>
        </p:txBody>
      </p:sp>
      <p:sp>
        <p:nvSpPr>
          <p:cNvPr id="49" name="Text 42"/>
          <p:cNvSpPr/>
          <p:nvPr/>
        </p:nvSpPr>
        <p:spPr>
          <a:xfrm>
            <a:off x="8729502" y="567618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3480" dirty="0"/>
          </a:p>
        </p:txBody>
      </p:sp>
      <p:sp>
        <p:nvSpPr>
          <p:cNvPr id="50" name="Text 43"/>
          <p:cNvSpPr/>
          <p:nvPr/>
        </p:nvSpPr>
        <p:spPr>
          <a:xfrm>
            <a:off x="8195584" y="6446520"/>
            <a:ext cx="100456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Memerlukan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8195584" y="6659850"/>
            <a:ext cx="78028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rawatan.</a:t>
            </a:r>
            <a:endParaRPr lang="en-US" sz="12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0153" y="4838730"/>
            <a:ext cx="1873057" cy="224787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0465034" y="5006340"/>
            <a:ext cx="92034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Missing</a:t>
            </a:r>
            <a:endParaRPr lang="en-US" sz="1620" dirty="0"/>
          </a:p>
        </p:txBody>
      </p:sp>
      <p:sp>
        <p:nvSpPr>
          <p:cNvPr id="54" name="Text 46"/>
          <p:cNvSpPr/>
          <p:nvPr/>
        </p:nvSpPr>
        <p:spPr>
          <a:xfrm>
            <a:off x="10465034" y="5297119"/>
            <a:ext cx="868032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DUE CARIES</a:t>
            </a:r>
            <a:endParaRPr lang="en-US" sz="780" dirty="0"/>
          </a:p>
        </p:txBody>
      </p:sp>
      <p:sp>
        <p:nvSpPr>
          <p:cNvPr id="55" name="Text 47"/>
          <p:cNvSpPr/>
          <p:nvPr/>
        </p:nvSpPr>
        <p:spPr>
          <a:xfrm>
            <a:off x="10206990" y="5676185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</a:t>
            </a:r>
            <a:endParaRPr lang="en-US" sz="3480" dirty="0"/>
          </a:p>
        </p:txBody>
      </p:sp>
      <p:sp>
        <p:nvSpPr>
          <p:cNvPr id="56" name="Text 48"/>
          <p:cNvSpPr/>
          <p:nvPr/>
        </p:nvSpPr>
        <p:spPr>
          <a:xfrm>
            <a:off x="10755081" y="567618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3480" dirty="0"/>
          </a:p>
        </p:txBody>
      </p:sp>
      <p:sp>
        <p:nvSpPr>
          <p:cNvPr id="57" name="Text 49"/>
          <p:cNvSpPr/>
          <p:nvPr/>
        </p:nvSpPr>
        <p:spPr>
          <a:xfrm>
            <a:off x="10221163" y="6446520"/>
            <a:ext cx="142951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Sejarah penyakit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10221163" y="6659850"/>
            <a:ext cx="61264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aktif.</a:t>
            </a:r>
            <a:endParaRPr lang="en-US" sz="12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5640" y="4838730"/>
            <a:ext cx="1873240" cy="224787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12490521" y="5006340"/>
            <a:ext cx="80718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Filled</a:t>
            </a:r>
            <a:endParaRPr lang="en-US" sz="1620" dirty="0"/>
          </a:p>
        </p:txBody>
      </p:sp>
      <p:sp>
        <p:nvSpPr>
          <p:cNvPr id="61" name="Text 52"/>
          <p:cNvSpPr/>
          <p:nvPr/>
        </p:nvSpPr>
        <p:spPr>
          <a:xfrm>
            <a:off x="12490521" y="5297119"/>
            <a:ext cx="65753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SURFACE</a:t>
            </a:r>
            <a:endParaRPr lang="en-US" sz="780" dirty="0"/>
          </a:p>
        </p:txBody>
      </p:sp>
      <p:sp>
        <p:nvSpPr>
          <p:cNvPr id="62" name="Text 53"/>
          <p:cNvSpPr/>
          <p:nvPr/>
        </p:nvSpPr>
        <p:spPr>
          <a:xfrm>
            <a:off x="12232569" y="5782896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</a:t>
            </a:r>
            <a:endParaRPr lang="en-US" sz="3480" dirty="0"/>
          </a:p>
        </p:txBody>
      </p:sp>
      <p:sp>
        <p:nvSpPr>
          <p:cNvPr id="63" name="Text 54"/>
          <p:cNvSpPr/>
          <p:nvPr/>
        </p:nvSpPr>
        <p:spPr>
          <a:xfrm>
            <a:off x="12780569" y="5782896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3480" dirty="0"/>
          </a:p>
        </p:txBody>
      </p:sp>
      <p:sp>
        <p:nvSpPr>
          <p:cNvPr id="64" name="Text 55"/>
          <p:cNvSpPr/>
          <p:nvPr/>
        </p:nvSpPr>
        <p:spPr>
          <a:xfrm>
            <a:off x="12246651" y="6667530"/>
            <a:ext cx="152265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Masuk kiraan dmf.</a:t>
            </a:r>
            <a:endParaRPr lang="en-US" sz="1200" dirty="0"/>
          </a:p>
        </p:txBody>
      </p:sp>
      <p:sp>
        <p:nvSpPr>
          <p:cNvPr id="65" name="Shape 56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944850" y="7444770"/>
            <a:ext cx="308884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Tangkap sebelum cavitation.</a:t>
            </a:r>
            <a:endParaRPr lang="en-US" sz="1620" dirty="0"/>
          </a:p>
        </p:txBody>
      </p:sp>
      <p:sp>
        <p:nvSpPr>
          <p:cNvPr id="67" name="Shape 58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5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6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7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8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9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1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2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3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4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5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6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8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0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1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3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1878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16293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428826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PATTERN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61966"/>
            <a:ext cx="4656582" cy="598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493"/>
              </a:lnSpc>
              <a:buNone/>
            </a:pPr>
            <a:r>
              <a:rPr lang="en-US" sz="46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Risiko Berkait</a:t>
            </a:r>
            <a:endParaRPr lang="en-US" sz="4680" dirty="0"/>
          </a:p>
        </p:txBody>
      </p:sp>
      <p:sp>
        <p:nvSpPr>
          <p:cNvPr id="9" name="Text 6"/>
          <p:cNvSpPr/>
          <p:nvPr/>
        </p:nvSpPr>
        <p:spPr>
          <a:xfrm>
            <a:off x="10187788" y="1248705"/>
            <a:ext cx="424738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Feeding, gula, plak, perlindungan.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293590"/>
            <a:ext cx="413324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ECC multifaktorial; bukan isu</a:t>
            </a:r>
            <a:endParaRPr lang="en-US" sz="2040" dirty="0"/>
          </a:p>
        </p:txBody>
      </p:sp>
      <p:sp>
        <p:nvSpPr>
          <p:cNvPr id="11" name="Text 8"/>
          <p:cNvSpPr/>
          <p:nvPr/>
        </p:nvSpPr>
        <p:spPr>
          <a:xfrm>
            <a:off x="731520" y="2682210"/>
            <a:ext cx="2555443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botol susu sahaja.</a:t>
            </a:r>
            <a:endParaRPr lang="en-US" sz="2040" dirty="0"/>
          </a:p>
        </p:txBody>
      </p:sp>
      <p:sp>
        <p:nvSpPr>
          <p:cNvPr id="12" name="Text 9"/>
          <p:cNvSpPr/>
          <p:nvPr/>
        </p:nvSpPr>
        <p:spPr>
          <a:xfrm>
            <a:off x="695584" y="3221962"/>
            <a:ext cx="898947" cy="1315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494"/>
              </a:lnSpc>
              <a:buNone/>
            </a:pPr>
            <a:r>
              <a:rPr lang="en-US" sz="79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7920" dirty="0"/>
          </a:p>
        </p:txBody>
      </p:sp>
      <p:sp>
        <p:nvSpPr>
          <p:cNvPr id="13" name="Text 10"/>
          <p:cNvSpPr/>
          <p:nvPr/>
        </p:nvSpPr>
        <p:spPr>
          <a:xfrm>
            <a:off x="1419423" y="3846424"/>
            <a:ext cx="1699961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48"/>
              </a:lnSpc>
              <a:buNone/>
            </a:pPr>
            <a:r>
              <a:rPr lang="en-US" sz="2376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 areas</a:t>
            </a:r>
            <a:endParaRPr lang="en-US" sz="2376" dirty="0"/>
          </a:p>
        </p:txBody>
      </p:sp>
      <p:sp>
        <p:nvSpPr>
          <p:cNvPr id="14" name="Text 11"/>
          <p:cNvSpPr/>
          <p:nvPr/>
        </p:nvSpPr>
        <p:spPr>
          <a:xfrm>
            <a:off x="731520" y="4314688"/>
            <a:ext cx="3596610" cy="270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14"/>
              </a:lnSpc>
              <a:buNone/>
            </a:pPr>
            <a:r>
              <a:rPr lang="en-US" sz="13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for chairside prompt.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31520" y="4832055"/>
            <a:ext cx="405381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RELATIVE EMPHASIS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31520" y="5197815"/>
            <a:ext cx="121890" cy="12189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4850" y="5136825"/>
            <a:ext cx="77023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Feeding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31520" y="5540715"/>
            <a:ext cx="121890" cy="121890"/>
          </a:xfrm>
          <a:prstGeom prst="ellipse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4850" y="5479725"/>
            <a:ext cx="58582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Sugar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731520" y="5883615"/>
            <a:ext cx="121890" cy="121890"/>
          </a:xfrm>
          <a:prstGeom prst="ellipse">
            <a:avLst/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4850" y="5822625"/>
            <a:ext cx="67802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Plaque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731520" y="6226515"/>
            <a:ext cx="121890" cy="121890"/>
          </a:xfrm>
          <a:prstGeom prst="ellipse">
            <a:avLst/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4850" y="6165525"/>
            <a:ext cx="86243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Fluoride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731520" y="6778904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4850" y="6683715"/>
            <a:ext cx="299633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 talk must be practical.</a:t>
            </a:r>
            <a:endParaRPr lang="en-US" sz="156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50" y="2179290"/>
            <a:ext cx="8442930" cy="41148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246358" y="6025164"/>
            <a:ext cx="770230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Feeding</a:t>
            </a:r>
            <a:endParaRPr lang="en-US" sz="1320" dirty="0"/>
          </a:p>
        </p:txBody>
      </p:sp>
      <p:sp>
        <p:nvSpPr>
          <p:cNvPr id="28" name="Text 24"/>
          <p:cNvSpPr/>
          <p:nvPr/>
        </p:nvSpPr>
        <p:spPr>
          <a:xfrm>
            <a:off x="8092531" y="6025164"/>
            <a:ext cx="1284884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Dietary sugar</a:t>
            </a:r>
            <a:endParaRPr lang="en-US" sz="1320" dirty="0"/>
          </a:p>
        </p:txBody>
      </p:sp>
      <p:sp>
        <p:nvSpPr>
          <p:cNvPr id="29" name="Text 25"/>
          <p:cNvSpPr/>
          <p:nvPr/>
        </p:nvSpPr>
        <p:spPr>
          <a:xfrm>
            <a:off x="10124054" y="6025164"/>
            <a:ext cx="1377086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Plaque control</a:t>
            </a:r>
            <a:endParaRPr lang="en-US" sz="1320" dirty="0"/>
          </a:p>
        </p:txBody>
      </p:sp>
      <p:sp>
        <p:nvSpPr>
          <p:cNvPr id="30" name="Text 26"/>
          <p:cNvSpPr/>
          <p:nvPr/>
        </p:nvSpPr>
        <p:spPr>
          <a:xfrm>
            <a:off x="12357750" y="6025164"/>
            <a:ext cx="1046836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Protection</a:t>
            </a:r>
            <a:endParaRPr lang="en-US" sz="132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50" y="6476970"/>
            <a:ext cx="2007840" cy="120399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631150" y="6636990"/>
            <a:ext cx="77023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Feeding</a:t>
            </a:r>
            <a:endParaRPr lang="en-US" sz="1320" dirty="0"/>
          </a:p>
        </p:txBody>
      </p:sp>
      <p:sp>
        <p:nvSpPr>
          <p:cNvPr id="33" name="Text 28"/>
          <p:cNvSpPr/>
          <p:nvPr/>
        </p:nvSpPr>
        <p:spPr>
          <a:xfrm>
            <a:off x="5631150" y="691131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80" dirty="0"/>
          </a:p>
        </p:txBody>
      </p:sp>
      <p:sp>
        <p:nvSpPr>
          <p:cNvPr id="34" name="Text 29"/>
          <p:cNvSpPr/>
          <p:nvPr/>
        </p:nvSpPr>
        <p:spPr>
          <a:xfrm>
            <a:off x="5856458" y="705615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</a:t>
            </a:r>
            <a:endParaRPr lang="en-US" sz="1080" dirty="0"/>
          </a:p>
        </p:txBody>
      </p:sp>
      <p:sp>
        <p:nvSpPr>
          <p:cNvPr id="35" name="Text 30"/>
          <p:cNvSpPr/>
          <p:nvPr/>
        </p:nvSpPr>
        <p:spPr>
          <a:xfrm>
            <a:off x="5631150" y="7322790"/>
            <a:ext cx="28529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080" dirty="0"/>
          </a:p>
        </p:txBody>
      </p:sp>
      <p:sp>
        <p:nvSpPr>
          <p:cNvPr id="36" name="Text 31"/>
          <p:cNvSpPr/>
          <p:nvPr/>
        </p:nvSpPr>
        <p:spPr>
          <a:xfrm>
            <a:off x="5790347" y="7322790"/>
            <a:ext cx="5340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亿美元</a:t>
            </a:r>
            <a:endParaRPr lang="en-US" sz="108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6476970"/>
            <a:ext cx="2007840" cy="120399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776240" y="6636990"/>
            <a:ext cx="128488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Dietary sugar</a:t>
            </a:r>
            <a:endParaRPr lang="en-US" sz="1320" dirty="0"/>
          </a:p>
        </p:txBody>
      </p:sp>
      <p:sp>
        <p:nvSpPr>
          <p:cNvPr id="39" name="Text 33"/>
          <p:cNvSpPr/>
          <p:nvPr/>
        </p:nvSpPr>
        <p:spPr>
          <a:xfrm>
            <a:off x="7776240" y="691131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280" dirty="0"/>
          </a:p>
        </p:txBody>
      </p:sp>
      <p:sp>
        <p:nvSpPr>
          <p:cNvPr id="40" name="Text 34"/>
          <p:cNvSpPr/>
          <p:nvPr/>
        </p:nvSpPr>
        <p:spPr>
          <a:xfrm>
            <a:off x="8001457" y="705615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</a:t>
            </a:r>
            <a:endParaRPr lang="en-US" sz="1080" dirty="0"/>
          </a:p>
        </p:txBody>
      </p:sp>
      <p:sp>
        <p:nvSpPr>
          <p:cNvPr id="41" name="Text 35"/>
          <p:cNvSpPr/>
          <p:nvPr/>
        </p:nvSpPr>
        <p:spPr>
          <a:xfrm>
            <a:off x="7776240" y="7322790"/>
            <a:ext cx="28529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080" dirty="0"/>
          </a:p>
        </p:txBody>
      </p:sp>
      <p:sp>
        <p:nvSpPr>
          <p:cNvPr id="42" name="Text 36"/>
          <p:cNvSpPr/>
          <p:nvPr/>
        </p:nvSpPr>
        <p:spPr>
          <a:xfrm>
            <a:off x="7935438" y="7322790"/>
            <a:ext cx="5340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亿美元</a:t>
            </a:r>
            <a:endParaRPr lang="en-US" sz="108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950" y="6476970"/>
            <a:ext cx="2007840" cy="120399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921240" y="6636990"/>
            <a:ext cx="137708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Plaque control</a:t>
            </a:r>
            <a:endParaRPr lang="en-US" sz="1320" dirty="0"/>
          </a:p>
        </p:txBody>
      </p:sp>
      <p:sp>
        <p:nvSpPr>
          <p:cNvPr id="45" name="Text 38"/>
          <p:cNvSpPr/>
          <p:nvPr/>
        </p:nvSpPr>
        <p:spPr>
          <a:xfrm>
            <a:off x="9921240" y="691131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280" dirty="0"/>
          </a:p>
        </p:txBody>
      </p:sp>
      <p:sp>
        <p:nvSpPr>
          <p:cNvPr id="46" name="Text 39"/>
          <p:cNvSpPr/>
          <p:nvPr/>
        </p:nvSpPr>
        <p:spPr>
          <a:xfrm>
            <a:off x="10146548" y="705615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</a:t>
            </a:r>
            <a:endParaRPr lang="en-US" sz="1080" dirty="0"/>
          </a:p>
        </p:txBody>
      </p:sp>
      <p:sp>
        <p:nvSpPr>
          <p:cNvPr id="47" name="Text 40"/>
          <p:cNvSpPr/>
          <p:nvPr/>
        </p:nvSpPr>
        <p:spPr>
          <a:xfrm>
            <a:off x="9921240" y="7322790"/>
            <a:ext cx="28529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080" dirty="0"/>
          </a:p>
        </p:txBody>
      </p:sp>
      <p:sp>
        <p:nvSpPr>
          <p:cNvPr id="48" name="Text 41"/>
          <p:cNvSpPr/>
          <p:nvPr/>
        </p:nvSpPr>
        <p:spPr>
          <a:xfrm>
            <a:off x="10080437" y="7322790"/>
            <a:ext cx="5340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亿美元</a:t>
            </a:r>
            <a:endParaRPr lang="en-US" sz="108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1040" y="6431250"/>
            <a:ext cx="2007840" cy="120399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2066240" y="6591270"/>
            <a:ext cx="104683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>
                    <a:alpha val="6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Protection</a:t>
            </a:r>
            <a:endParaRPr lang="en-US" sz="1320" dirty="0"/>
          </a:p>
        </p:txBody>
      </p:sp>
      <p:sp>
        <p:nvSpPr>
          <p:cNvPr id="51" name="Text 43"/>
          <p:cNvSpPr/>
          <p:nvPr/>
        </p:nvSpPr>
        <p:spPr>
          <a:xfrm>
            <a:off x="12066240" y="686559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80" dirty="0"/>
          </a:p>
        </p:txBody>
      </p:sp>
      <p:sp>
        <p:nvSpPr>
          <p:cNvPr id="52" name="Text 44"/>
          <p:cNvSpPr/>
          <p:nvPr/>
        </p:nvSpPr>
        <p:spPr>
          <a:xfrm>
            <a:off x="12291548" y="701043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>
                    <a:alpha val="6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</a:t>
            </a:r>
            <a:endParaRPr lang="en-US" sz="1080" dirty="0"/>
          </a:p>
        </p:txBody>
      </p:sp>
      <p:sp>
        <p:nvSpPr>
          <p:cNvPr id="53" name="Text 45"/>
          <p:cNvSpPr/>
          <p:nvPr/>
        </p:nvSpPr>
        <p:spPr>
          <a:xfrm>
            <a:off x="12066240" y="7277070"/>
            <a:ext cx="28529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080" dirty="0"/>
          </a:p>
        </p:txBody>
      </p:sp>
      <p:sp>
        <p:nvSpPr>
          <p:cNvPr id="54" name="Text 46"/>
          <p:cNvSpPr/>
          <p:nvPr/>
        </p:nvSpPr>
        <p:spPr>
          <a:xfrm>
            <a:off x="12225437" y="7277070"/>
            <a:ext cx="5340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亿美元</a:t>
            </a:r>
            <a:endParaRPr lang="en-US" sz="1080" dirty="0"/>
          </a:p>
        </p:txBody>
      </p:sp>
      <p:sp>
        <p:nvSpPr>
          <p:cNvPr id="55" name="Shape 47"/>
          <p:cNvSpPr/>
          <p:nvPr/>
        </p:nvSpPr>
        <p:spPr>
          <a:xfrm>
            <a:off x="11765310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11825295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1885371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11945447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12005523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1206559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2125676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1218566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1224582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12305904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12366071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1242623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12486315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1254648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1260655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1266672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1272680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1278697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1284704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12907213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1296728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13027457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13087624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1314770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1320786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13267944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1332811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1338818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13448355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13508431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1356859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1362876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9"/>
          <p:cNvSpPr/>
          <p:nvPr/>
        </p:nvSpPr>
        <p:spPr>
          <a:xfrm>
            <a:off x="1368884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0"/>
          <p:cNvSpPr/>
          <p:nvPr/>
        </p:nvSpPr>
        <p:spPr>
          <a:xfrm>
            <a:off x="1374901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1"/>
          <p:cNvSpPr/>
          <p:nvPr/>
        </p:nvSpPr>
        <p:spPr>
          <a:xfrm>
            <a:off x="1380908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13869253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02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30923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225803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TO CHECK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62624"/>
            <a:ext cx="220077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Semak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2679893" y="1263335"/>
            <a:ext cx="148132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Ikut Laluan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6798" y="2112197"/>
            <a:ext cx="1748333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3360" b="1" dirty="0">
                <a:solidFill>
                  <a:srgbClr val="EFA6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ASSESS</a:t>
            </a:r>
            <a:endParaRPr lang="en-US" sz="3360" dirty="0"/>
          </a:p>
        </p:txBody>
      </p:sp>
      <p:sp>
        <p:nvSpPr>
          <p:cNvPr id="11" name="Text 8"/>
          <p:cNvSpPr/>
          <p:nvPr/>
        </p:nvSpPr>
        <p:spPr>
          <a:xfrm>
            <a:off x="2410084" y="2354580"/>
            <a:ext cx="130759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CHAIRSIDE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720340"/>
            <a:ext cx="5471861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Mulakan dengan sejarah, visual exam dan radiograf.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31520" y="3143250"/>
            <a:ext cx="351925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47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 untuk semua kanak-kanak bawah 6.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12443521" y="2067411"/>
            <a:ext cx="1572951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4526"/>
              </a:lnSpc>
              <a:buNone/>
            </a:pPr>
            <a:r>
              <a:rPr lang="en-US" sz="5520" b="1" dirty="0">
                <a:solidFill>
                  <a:srgbClr val="EFA6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</a:t>
            </a:r>
            <a:endParaRPr lang="en-US" sz="5520" dirty="0"/>
          </a:p>
        </p:txBody>
      </p:sp>
      <p:sp>
        <p:nvSpPr>
          <p:cNvPr id="15" name="Text 12"/>
          <p:cNvSpPr/>
          <p:nvPr/>
        </p:nvSpPr>
        <p:spPr>
          <a:xfrm>
            <a:off x="12440183" y="2860792"/>
            <a:ext cx="1458697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 sets recall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731520" y="3855750"/>
            <a:ext cx="13167360" cy="2971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129744"/>
            <a:ext cx="13167360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9670" y="3855750"/>
            <a:ext cx="568871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4420301" y="3855750"/>
            <a:ext cx="1064019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PRIORITY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8554395" y="3855750"/>
            <a:ext cx="1020128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CASE</a:t>
            </a:r>
            <a:endParaRPr lang="en-US" sz="108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52930"/>
            <a:ext cx="13167360" cy="3290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88720" y="4161252"/>
            <a:ext cx="107045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History</a:t>
            </a:r>
            <a:endParaRPr lang="en-US" sz="1920" dirty="0"/>
          </a:p>
        </p:txBody>
      </p:sp>
      <p:sp>
        <p:nvSpPr>
          <p:cNvPr id="23" name="Text 19"/>
          <p:cNvSpPr/>
          <p:nvPr/>
        </p:nvSpPr>
        <p:spPr>
          <a:xfrm>
            <a:off x="7758288" y="4176431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680" dirty="0"/>
          </a:p>
        </p:txBody>
      </p:sp>
      <p:sp>
        <p:nvSpPr>
          <p:cNvPr id="24" name="Text 20"/>
          <p:cNvSpPr/>
          <p:nvPr/>
        </p:nvSpPr>
        <p:spPr>
          <a:xfrm>
            <a:off x="7896103" y="4260281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1020" dirty="0"/>
          </a:p>
        </p:txBody>
      </p:sp>
      <p:sp>
        <p:nvSpPr>
          <p:cNvPr id="25" name="Text 21"/>
          <p:cNvSpPr/>
          <p:nvPr/>
        </p:nvSpPr>
        <p:spPr>
          <a:xfrm>
            <a:off x="8600115" y="4180271"/>
            <a:ext cx="2556662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Feeding, sugar, symptoms.</a:t>
            </a:r>
            <a:endParaRPr lang="en-US" sz="144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82023"/>
            <a:ext cx="13167360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43000" y="4490344"/>
            <a:ext cx="155082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 exam</a:t>
            </a:r>
            <a:endParaRPr lang="en-US" sz="1920" dirty="0"/>
          </a:p>
        </p:txBody>
      </p:sp>
      <p:sp>
        <p:nvSpPr>
          <p:cNvPr id="28" name="Text 23"/>
          <p:cNvSpPr/>
          <p:nvPr/>
        </p:nvSpPr>
        <p:spPr>
          <a:xfrm>
            <a:off x="7712568" y="4505523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680" dirty="0"/>
          </a:p>
        </p:txBody>
      </p:sp>
      <p:sp>
        <p:nvSpPr>
          <p:cNvPr id="29" name="Text 24"/>
          <p:cNvSpPr/>
          <p:nvPr/>
        </p:nvSpPr>
        <p:spPr>
          <a:xfrm>
            <a:off x="7850383" y="4589374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1020" dirty="0"/>
          </a:p>
        </p:txBody>
      </p:sp>
      <p:sp>
        <p:nvSpPr>
          <p:cNvPr id="30" name="Text 25"/>
          <p:cNvSpPr/>
          <p:nvPr/>
        </p:nvSpPr>
        <p:spPr>
          <a:xfrm>
            <a:off x="8554395" y="4509364"/>
            <a:ext cx="251460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Clean, dry, light source.</a:t>
            </a:r>
            <a:endParaRPr lang="en-US" sz="144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11207"/>
            <a:ext cx="13167360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43000" y="4819528"/>
            <a:ext cx="1472794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Radiograph</a:t>
            </a:r>
            <a:endParaRPr lang="en-US" sz="1920" dirty="0"/>
          </a:p>
        </p:txBody>
      </p:sp>
      <p:sp>
        <p:nvSpPr>
          <p:cNvPr id="33" name="Text 27"/>
          <p:cNvSpPr/>
          <p:nvPr/>
        </p:nvSpPr>
        <p:spPr>
          <a:xfrm>
            <a:off x="7712568" y="4834799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80" dirty="0"/>
          </a:p>
        </p:txBody>
      </p:sp>
      <p:sp>
        <p:nvSpPr>
          <p:cNvPr id="34" name="Text 28"/>
          <p:cNvSpPr/>
          <p:nvPr/>
        </p:nvSpPr>
        <p:spPr>
          <a:xfrm>
            <a:off x="7850383" y="4918558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1020" dirty="0"/>
          </a:p>
        </p:txBody>
      </p:sp>
      <p:sp>
        <p:nvSpPr>
          <p:cNvPr id="35" name="Text 29"/>
          <p:cNvSpPr/>
          <p:nvPr/>
        </p:nvSpPr>
        <p:spPr>
          <a:xfrm>
            <a:off x="8554395" y="4838548"/>
            <a:ext cx="2355494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Adjunct when indicated.</a:t>
            </a:r>
            <a:endParaRPr lang="en-US" sz="144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140391"/>
            <a:ext cx="13167360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43000" y="5148712"/>
            <a:ext cx="890016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ICDAS</a:t>
            </a:r>
            <a:endParaRPr lang="en-US" sz="1920" dirty="0"/>
          </a:p>
        </p:txBody>
      </p:sp>
      <p:sp>
        <p:nvSpPr>
          <p:cNvPr id="38" name="Text 31"/>
          <p:cNvSpPr/>
          <p:nvPr/>
        </p:nvSpPr>
        <p:spPr>
          <a:xfrm>
            <a:off x="7712568" y="5163983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80" dirty="0"/>
          </a:p>
        </p:txBody>
      </p:sp>
      <p:sp>
        <p:nvSpPr>
          <p:cNvPr id="39" name="Text 32"/>
          <p:cNvSpPr/>
          <p:nvPr/>
        </p:nvSpPr>
        <p:spPr>
          <a:xfrm>
            <a:off x="7850383" y="5247833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1020" dirty="0"/>
          </a:p>
        </p:txBody>
      </p:sp>
      <p:sp>
        <p:nvSpPr>
          <p:cNvPr id="40" name="Text 33"/>
          <p:cNvSpPr/>
          <p:nvPr/>
        </p:nvSpPr>
        <p:spPr>
          <a:xfrm>
            <a:off x="8554395" y="5167823"/>
            <a:ext cx="2355494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Structured scoring aid.</a:t>
            </a:r>
            <a:endParaRPr lang="en-US" sz="1440" dirty="0"/>
          </a:p>
        </p:txBody>
      </p:sp>
      <p:sp>
        <p:nvSpPr>
          <p:cNvPr id="41" name="Shape 34"/>
          <p:cNvSpPr/>
          <p:nvPr/>
        </p:nvSpPr>
        <p:spPr>
          <a:xfrm>
            <a:off x="929670" y="5584607"/>
            <a:ext cx="91440" cy="91440"/>
          </a:xfrm>
          <a:prstGeom prst="roundRect">
            <a:avLst>
              <a:gd name="adj" fmla="val 38035"/>
            </a:avLst>
          </a:prstGeom>
          <a:solidFill>
            <a:srgbClr val="EFA63A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143000" y="5477988"/>
            <a:ext cx="57790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</a:t>
            </a:r>
            <a:endParaRPr lang="en-US" sz="1920" dirty="0"/>
          </a:p>
        </p:txBody>
      </p:sp>
      <p:sp>
        <p:nvSpPr>
          <p:cNvPr id="43" name="Shape 36"/>
          <p:cNvSpPr/>
          <p:nvPr/>
        </p:nvSpPr>
        <p:spPr>
          <a:xfrm>
            <a:off x="4420301" y="5584607"/>
            <a:ext cx="2991094" cy="9144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420301" y="5584607"/>
            <a:ext cx="2991094" cy="91440"/>
          </a:xfrm>
          <a:prstGeom prst="rect">
            <a:avLst/>
          </a:prstGeom>
          <a:solidFill>
            <a:srgbClr val="EE83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712568" y="5493167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680" dirty="0"/>
          </a:p>
        </p:txBody>
      </p:sp>
      <p:sp>
        <p:nvSpPr>
          <p:cNvPr id="46" name="Text 39"/>
          <p:cNvSpPr/>
          <p:nvPr/>
        </p:nvSpPr>
        <p:spPr>
          <a:xfrm>
            <a:off x="7850383" y="5577017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1020" dirty="0"/>
          </a:p>
        </p:txBody>
      </p:sp>
      <p:sp>
        <p:nvSpPr>
          <p:cNvPr id="47" name="Text 40"/>
          <p:cNvSpPr/>
          <p:nvPr/>
        </p:nvSpPr>
        <p:spPr>
          <a:xfrm>
            <a:off x="8554395" y="5497007"/>
            <a:ext cx="2505456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 interval and FV need.</a:t>
            </a:r>
            <a:endParaRPr lang="en-US" sz="1440" dirty="0"/>
          </a:p>
        </p:txBody>
      </p:sp>
      <p:sp>
        <p:nvSpPr>
          <p:cNvPr id="48" name="Text 41"/>
          <p:cNvSpPr/>
          <p:nvPr/>
        </p:nvSpPr>
        <p:spPr>
          <a:xfrm>
            <a:off x="731520" y="6263640"/>
            <a:ext cx="1325880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CLINICAL FLOW</a:t>
            </a:r>
            <a:endParaRPr lang="en-US" sz="1020" dirty="0"/>
          </a:p>
        </p:txBody>
      </p:sp>
      <p:sp>
        <p:nvSpPr>
          <p:cNvPr id="49" name="Shape 42"/>
          <p:cNvSpPr/>
          <p:nvPr/>
        </p:nvSpPr>
        <p:spPr>
          <a:xfrm>
            <a:off x="731520" y="6537960"/>
            <a:ext cx="2631735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90681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998342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20" dirty="0"/>
          </a:p>
        </p:txBody>
      </p:sp>
      <p:sp>
        <p:nvSpPr>
          <p:cNvPr id="52" name="Text 45"/>
          <p:cNvSpPr/>
          <p:nvPr/>
        </p:nvSpPr>
        <p:spPr>
          <a:xfrm>
            <a:off x="1272570" y="6682710"/>
            <a:ext cx="80025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History</a:t>
            </a:r>
            <a:endParaRPr lang="en-US" sz="138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685" y="6736110"/>
            <a:ext cx="152430" cy="152430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3713836" y="6537960"/>
            <a:ext cx="2631918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3889035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3968679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20" dirty="0"/>
          </a:p>
        </p:txBody>
      </p:sp>
      <p:sp>
        <p:nvSpPr>
          <p:cNvPr id="57" name="Text 49"/>
          <p:cNvSpPr/>
          <p:nvPr/>
        </p:nvSpPr>
        <p:spPr>
          <a:xfrm>
            <a:off x="4254795" y="6682710"/>
            <a:ext cx="70385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</a:t>
            </a:r>
            <a:endParaRPr lang="en-US" sz="138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092" y="6736110"/>
            <a:ext cx="152430" cy="152430"/>
          </a:xfrm>
          <a:prstGeom prst="rect">
            <a:avLst/>
          </a:prstGeom>
        </p:spPr>
      </p:pic>
      <p:sp>
        <p:nvSpPr>
          <p:cNvPr id="59" name="Shape 50"/>
          <p:cNvSpPr/>
          <p:nvPr/>
        </p:nvSpPr>
        <p:spPr>
          <a:xfrm>
            <a:off x="6696151" y="6537960"/>
            <a:ext cx="2631735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6871442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949897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20" dirty="0"/>
          </a:p>
        </p:txBody>
      </p:sp>
      <p:sp>
        <p:nvSpPr>
          <p:cNvPr id="62" name="Text 53"/>
          <p:cNvSpPr/>
          <p:nvPr/>
        </p:nvSpPr>
        <p:spPr>
          <a:xfrm>
            <a:off x="7237202" y="6682710"/>
            <a:ext cx="896645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Diagnose</a:t>
            </a:r>
            <a:endParaRPr lang="en-US" sz="138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0316" y="6736110"/>
            <a:ext cx="152430" cy="15243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9678467" y="6537960"/>
            <a:ext cx="2631735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9853757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9929927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320" dirty="0"/>
          </a:p>
        </p:txBody>
      </p:sp>
      <p:sp>
        <p:nvSpPr>
          <p:cNvPr id="67" name="Text 57"/>
          <p:cNvSpPr/>
          <p:nvPr/>
        </p:nvSpPr>
        <p:spPr>
          <a:xfrm>
            <a:off x="10219517" y="6682710"/>
            <a:ext cx="51107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</a:t>
            </a:r>
            <a:endParaRPr lang="en-US" sz="1380" dirty="0"/>
          </a:p>
        </p:txBody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62632" y="6736110"/>
            <a:ext cx="152430" cy="152430"/>
          </a:xfrm>
          <a:prstGeom prst="rect">
            <a:avLst/>
          </a:prstGeom>
        </p:spPr>
      </p:pic>
      <p:sp>
        <p:nvSpPr>
          <p:cNvPr id="69" name="Shape 58"/>
          <p:cNvSpPr/>
          <p:nvPr/>
        </p:nvSpPr>
        <p:spPr>
          <a:xfrm>
            <a:off x="12660782" y="6537960"/>
            <a:ext cx="1238098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12835981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12915168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320" dirty="0"/>
          </a:p>
        </p:txBody>
      </p:sp>
      <p:sp>
        <p:nvSpPr>
          <p:cNvPr id="72" name="Text 61"/>
          <p:cNvSpPr/>
          <p:nvPr/>
        </p:nvSpPr>
        <p:spPr>
          <a:xfrm>
            <a:off x="13201741" y="6682710"/>
            <a:ext cx="70385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</a:t>
            </a:r>
            <a:endParaRPr lang="en-US" sz="1380" dirty="0"/>
          </a:p>
        </p:txBody>
      </p:sp>
      <p:sp>
        <p:nvSpPr>
          <p:cNvPr id="73" name="Shape 62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944850" y="7444770"/>
            <a:ext cx="297568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Record, classify, appoint.</a:t>
            </a:r>
            <a:endParaRPr lang="en-US" sz="1620" dirty="0"/>
          </a:p>
        </p:txBody>
      </p:sp>
      <p:sp>
        <p:nvSpPr>
          <p:cNvPr id="75" name="Shape 64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4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5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7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8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5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6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7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88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89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0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1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2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3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4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5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96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97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98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99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15845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786940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88583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PREVENTION PACKAGE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60645"/>
            <a:ext cx="3885834" cy="568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62"/>
              </a:lnSpc>
              <a:buNone/>
            </a:pPr>
            <a:r>
              <a:rPr lang="en-US" sz="44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Mula Penjaga</a:t>
            </a:r>
            <a:endParaRPr lang="en-US" sz="4440" dirty="0"/>
          </a:p>
        </p:txBody>
      </p:sp>
      <p:sp>
        <p:nvSpPr>
          <p:cNvPr id="9" name="Text 6"/>
          <p:cNvSpPr/>
          <p:nvPr/>
        </p:nvSpPr>
        <p:spPr>
          <a:xfrm>
            <a:off x="10525201" y="1219444"/>
            <a:ext cx="38176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Diet, plak dan lawatan berkala.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10094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Sesi penerangan ikut umur, risiko dan keluarga.</a:t>
            </a:r>
            <a:endParaRPr lang="en-US" sz="192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862"/>
            <a:ext cx="8592068" cy="58610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7750" y="2822021"/>
            <a:ext cx="1310610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看好方向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5299222" y="3017520"/>
            <a:ext cx="22932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CAREGIVER TALK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28700" y="3558570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20" dirty="0"/>
          </a:p>
        </p:txBody>
      </p:sp>
      <p:sp>
        <p:nvSpPr>
          <p:cNvPr id="15" name="Text 11"/>
          <p:cNvSpPr/>
          <p:nvPr/>
        </p:nvSpPr>
        <p:spPr>
          <a:xfrm>
            <a:off x="1485900" y="3459450"/>
            <a:ext cx="137617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6-12 bulan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485900" y="3779490"/>
            <a:ext cx="2617241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Feeding and oral hygiene talk.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1028700" y="4292651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20" dirty="0"/>
          </a:p>
        </p:txBody>
      </p:sp>
      <p:sp>
        <p:nvSpPr>
          <p:cNvPr id="18" name="Text 14"/>
          <p:cNvSpPr/>
          <p:nvPr/>
        </p:nvSpPr>
        <p:spPr>
          <a:xfrm>
            <a:off x="1485900" y="4193621"/>
            <a:ext cx="152247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12-24 bulan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485900" y="4513661"/>
            <a:ext cx="310850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 counselling by risk and need.</a:t>
            </a:r>
            <a:endParaRPr lang="en-US" sz="1260" dirty="0"/>
          </a:p>
        </p:txBody>
      </p:sp>
      <p:sp>
        <p:nvSpPr>
          <p:cNvPr id="20" name="Text 16"/>
          <p:cNvSpPr/>
          <p:nvPr/>
        </p:nvSpPr>
        <p:spPr>
          <a:xfrm>
            <a:off x="1028700" y="5026823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1485900" y="4927793"/>
            <a:ext cx="122986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2-6 tahun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485900" y="5247833"/>
            <a:ext cx="274845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Diet, BMI concern and referral.</a:t>
            </a:r>
            <a:endParaRPr lang="en-US" sz="126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712750"/>
            <a:ext cx="6469380" cy="307869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85730" y="2867741"/>
            <a:ext cx="1310610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谨慎方向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12184106" y="3063240"/>
            <a:ext cx="212902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CLINIC ACTION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726680" y="3604290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844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20" dirty="0"/>
          </a:p>
        </p:txBody>
      </p:sp>
      <p:sp>
        <p:nvSpPr>
          <p:cNvPr id="27" name="Text 22"/>
          <p:cNvSpPr/>
          <p:nvPr/>
        </p:nvSpPr>
        <p:spPr>
          <a:xfrm>
            <a:off x="8183880" y="3505170"/>
            <a:ext cx="581101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OHE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8183880" y="3825210"/>
            <a:ext cx="2566035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Mothers, new mothers, carers.</a:t>
            </a:r>
            <a:endParaRPr lang="en-US" sz="1260" dirty="0"/>
          </a:p>
        </p:txBody>
      </p:sp>
      <p:sp>
        <p:nvSpPr>
          <p:cNvPr id="29" name="Text 24"/>
          <p:cNvSpPr/>
          <p:nvPr/>
        </p:nvSpPr>
        <p:spPr>
          <a:xfrm>
            <a:off x="7726680" y="4338371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844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20" dirty="0"/>
          </a:p>
        </p:txBody>
      </p:sp>
      <p:sp>
        <p:nvSpPr>
          <p:cNvPr id="30" name="Text 25"/>
          <p:cNvSpPr/>
          <p:nvPr/>
        </p:nvSpPr>
        <p:spPr>
          <a:xfrm>
            <a:off x="8183880" y="4239341"/>
            <a:ext cx="183794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Plaque control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8183880" y="4559381"/>
            <a:ext cx="2338807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Mechanical cleaning first.</a:t>
            </a:r>
            <a:endParaRPr lang="en-US" sz="1260" dirty="0"/>
          </a:p>
        </p:txBody>
      </p:sp>
      <p:sp>
        <p:nvSpPr>
          <p:cNvPr id="32" name="Text 27"/>
          <p:cNvSpPr/>
          <p:nvPr/>
        </p:nvSpPr>
        <p:spPr>
          <a:xfrm>
            <a:off x="7726680" y="5072543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844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20" dirty="0"/>
          </a:p>
        </p:txBody>
      </p:sp>
      <p:sp>
        <p:nvSpPr>
          <p:cNvPr id="33" name="Text 28"/>
          <p:cNvSpPr/>
          <p:nvPr/>
        </p:nvSpPr>
        <p:spPr>
          <a:xfrm>
            <a:off x="8183880" y="4973513"/>
            <a:ext cx="122986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FV recall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8183880" y="5293553"/>
            <a:ext cx="2742057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 category sets appointment.</a:t>
            </a:r>
            <a:endParaRPr lang="en-US" sz="1260" dirty="0"/>
          </a:p>
        </p:txBody>
      </p:sp>
      <p:sp>
        <p:nvSpPr>
          <p:cNvPr id="35" name="Text 30"/>
          <p:cNvSpPr/>
          <p:nvPr/>
        </p:nvSpPr>
        <p:spPr>
          <a:xfrm>
            <a:off x="731520" y="5763463"/>
            <a:ext cx="13258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AGE-SPECIFIC EMPHASIS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731520" y="6159673"/>
            <a:ext cx="13167360" cy="1527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3822710" y="6121634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45720"/>
                </a:lnTo>
                <a:lnTo>
                  <a:pt x="0" y="91440"/>
                </a:lnTo>
                <a:close/>
              </a:path>
            </a:pathLst>
          </a:cu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31520" y="6121634"/>
            <a:ext cx="182880" cy="182880"/>
          </a:xfrm>
          <a:prstGeom prst="ellipse">
            <a:avLst/>
          </a:prstGeom>
          <a:solidFill>
            <a:srgbClr val="FAFAF6"/>
          </a:solidFill>
          <a:ln w="38100">
            <a:solidFill>
              <a:srgbClr val="86D62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31520" y="6403543"/>
            <a:ext cx="75895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</a:t>
            </a:r>
            <a:endParaRPr lang="en-US" sz="1800" dirty="0"/>
          </a:p>
        </p:txBody>
      </p:sp>
      <p:sp>
        <p:nvSpPr>
          <p:cNvPr id="40" name="Text 35"/>
          <p:cNvSpPr/>
          <p:nvPr/>
        </p:nvSpPr>
        <p:spPr>
          <a:xfrm>
            <a:off x="731520" y="6761714"/>
            <a:ext cx="830275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Counsel</a:t>
            </a:r>
            <a:endParaRPr lang="en-US" sz="1440" dirty="0"/>
          </a:p>
        </p:txBody>
      </p:sp>
      <p:sp>
        <p:nvSpPr>
          <p:cNvPr id="41" name="Text 36"/>
          <p:cNvSpPr/>
          <p:nvPr/>
        </p:nvSpPr>
        <p:spPr>
          <a:xfrm>
            <a:off x="731520" y="7051213"/>
            <a:ext cx="217284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Feeding and sugar exposure.</a:t>
            </a:r>
            <a:endParaRPr lang="en-US" sz="1140" dirty="0"/>
          </a:p>
        </p:txBody>
      </p:sp>
      <p:sp>
        <p:nvSpPr>
          <p:cNvPr id="42" name="Shape 37"/>
          <p:cNvSpPr/>
          <p:nvPr/>
        </p:nvSpPr>
        <p:spPr>
          <a:xfrm>
            <a:off x="5120640" y="6121634"/>
            <a:ext cx="182880" cy="182880"/>
          </a:xfrm>
          <a:prstGeom prst="ellipse">
            <a:avLst/>
          </a:prstGeom>
          <a:solidFill>
            <a:srgbClr val="FAFAF6"/>
          </a:solidFill>
          <a:ln w="38100">
            <a:solidFill>
              <a:srgbClr val="86D62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120640" y="6403543"/>
            <a:ext cx="75895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Daily</a:t>
            </a:r>
            <a:endParaRPr lang="en-US" sz="1800" dirty="0"/>
          </a:p>
        </p:txBody>
      </p:sp>
      <p:sp>
        <p:nvSpPr>
          <p:cNvPr id="44" name="Text 39"/>
          <p:cNvSpPr/>
          <p:nvPr/>
        </p:nvSpPr>
        <p:spPr>
          <a:xfrm>
            <a:off x="5120640" y="6761714"/>
            <a:ext cx="629107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Brush</a:t>
            </a:r>
            <a:endParaRPr lang="en-US" sz="1440" dirty="0"/>
          </a:p>
        </p:txBody>
      </p:sp>
      <p:sp>
        <p:nvSpPr>
          <p:cNvPr id="45" name="Text 40"/>
          <p:cNvSpPr/>
          <p:nvPr/>
        </p:nvSpPr>
        <p:spPr>
          <a:xfrm>
            <a:off x="5120640" y="7051213"/>
            <a:ext cx="288950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Supervised with fluoride toothpaste.</a:t>
            </a:r>
            <a:endParaRPr lang="en-US" sz="1140" dirty="0"/>
          </a:p>
        </p:txBody>
      </p:sp>
      <p:sp>
        <p:nvSpPr>
          <p:cNvPr id="46" name="Shape 41"/>
          <p:cNvSpPr/>
          <p:nvPr/>
        </p:nvSpPr>
        <p:spPr>
          <a:xfrm>
            <a:off x="9509760" y="6121634"/>
            <a:ext cx="182880" cy="182880"/>
          </a:xfrm>
          <a:prstGeom prst="ellipse">
            <a:avLst/>
          </a:prstGeom>
          <a:solidFill>
            <a:srgbClr val="FAFAF6"/>
          </a:solidFill>
          <a:ln w="38100">
            <a:solidFill>
              <a:srgbClr val="86D62B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509760" y="6403543"/>
            <a:ext cx="88468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</a:t>
            </a:r>
            <a:endParaRPr lang="en-US" sz="1800" dirty="0"/>
          </a:p>
        </p:txBody>
      </p:sp>
      <p:sp>
        <p:nvSpPr>
          <p:cNvPr id="48" name="Text 43"/>
          <p:cNvSpPr/>
          <p:nvPr/>
        </p:nvSpPr>
        <p:spPr>
          <a:xfrm>
            <a:off x="9509760" y="6761714"/>
            <a:ext cx="74103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</a:t>
            </a:r>
            <a:endParaRPr lang="en-US" sz="1440" dirty="0"/>
          </a:p>
        </p:txBody>
      </p:sp>
      <p:sp>
        <p:nvSpPr>
          <p:cNvPr id="49" name="Text 44"/>
          <p:cNvSpPr/>
          <p:nvPr/>
        </p:nvSpPr>
        <p:spPr>
          <a:xfrm>
            <a:off x="9509760" y="7051213"/>
            <a:ext cx="214533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CRA, FV and reinforcement.</a:t>
            </a:r>
            <a:endParaRPr lang="en-US" sz="1140" dirty="0"/>
          </a:p>
        </p:txBody>
      </p:sp>
      <p:sp>
        <p:nvSpPr>
          <p:cNvPr id="50" name="Shape 45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44850" y="7444770"/>
            <a:ext cx="25230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 small routines.</a:t>
            </a:r>
            <a:endParaRPr lang="en-US" sz="1620" dirty="0"/>
          </a:p>
        </p:txBody>
      </p:sp>
      <p:sp>
        <p:nvSpPr>
          <p:cNvPr id="52" name="Shape 47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813" y="0"/>
            <a:ext cx="7315200" cy="39501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17308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01571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610051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BRUSHING + FLUORIDE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61303"/>
            <a:ext cx="2709977" cy="583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78"/>
              </a:lnSpc>
              <a:buNone/>
            </a:pPr>
            <a:r>
              <a:rPr lang="en-US" sz="456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Fluoride</a:t>
            </a:r>
            <a:endParaRPr lang="en-US" sz="4560" dirty="0"/>
          </a:p>
        </p:txBody>
      </p:sp>
      <p:sp>
        <p:nvSpPr>
          <p:cNvPr id="9" name="Text 6"/>
          <p:cNvSpPr/>
          <p:nvPr/>
        </p:nvSpPr>
        <p:spPr>
          <a:xfrm>
            <a:off x="13156021" y="1234074"/>
            <a:ext cx="97840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Core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404140"/>
            <a:ext cx="44193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5430" y="2316450"/>
            <a:ext cx="149108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264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HOME CARE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31520" y="2682210"/>
            <a:ext cx="7961406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brushing when primary teeth erupt; supervise and spit only.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31520" y="3089940"/>
            <a:ext cx="277826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47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1000-1500 ppm fluoride.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731520" y="3630900"/>
            <a:ext cx="847347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DAILY BRUSHING SCRIPT</a:t>
            </a:r>
            <a:endParaRPr lang="en-US" sz="108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3800"/>
            <a:ext cx="1889790" cy="12954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1540" y="414909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891540" y="4385280"/>
            <a:ext cx="69403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Erupt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891540" y="4697730"/>
            <a:ext cx="1599438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Begin on first primary</a:t>
            </a:r>
            <a:endParaRPr lang="en-US" sz="1020" dirty="0"/>
          </a:p>
        </p:txBody>
      </p:sp>
      <p:sp>
        <p:nvSpPr>
          <p:cNvPr id="19" name="Text 15"/>
          <p:cNvSpPr/>
          <p:nvPr/>
        </p:nvSpPr>
        <p:spPr>
          <a:xfrm>
            <a:off x="891540" y="4888200"/>
            <a:ext cx="5372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tooth.</a:t>
            </a:r>
            <a:endParaRPr lang="en-US" sz="102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0" y="4537710"/>
            <a:ext cx="167610" cy="16761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30" y="3973800"/>
            <a:ext cx="1889790" cy="12954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055650" y="414909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3055650" y="4385280"/>
            <a:ext cx="1325651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Twice daily</a:t>
            </a:r>
            <a:endParaRPr lang="en-US" sz="1620" dirty="0"/>
          </a:p>
        </p:txBody>
      </p:sp>
      <p:sp>
        <p:nvSpPr>
          <p:cNvPr id="24" name="Text 18"/>
          <p:cNvSpPr/>
          <p:nvPr/>
        </p:nvSpPr>
        <p:spPr>
          <a:xfrm>
            <a:off x="3055650" y="4697730"/>
            <a:ext cx="152819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Include last thing at</a:t>
            </a:r>
            <a:endParaRPr lang="en-US" sz="1020" dirty="0"/>
          </a:p>
        </p:txBody>
      </p:sp>
      <p:sp>
        <p:nvSpPr>
          <p:cNvPr id="25" name="Text 19"/>
          <p:cNvSpPr/>
          <p:nvPr/>
        </p:nvSpPr>
        <p:spPr>
          <a:xfrm>
            <a:off x="3055650" y="4888200"/>
            <a:ext cx="5372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night.</a:t>
            </a:r>
            <a:endParaRPr lang="en-US" sz="102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30" y="4537710"/>
            <a:ext cx="167610" cy="167610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319" y="2900020"/>
            <a:ext cx="3976543" cy="338218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19670" y="411864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7A7C7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80" dirty="0"/>
          </a:p>
        </p:txBody>
      </p:sp>
      <p:sp>
        <p:nvSpPr>
          <p:cNvPr id="29" name="Text 21"/>
          <p:cNvSpPr/>
          <p:nvPr/>
        </p:nvSpPr>
        <p:spPr>
          <a:xfrm>
            <a:off x="5219670" y="4354830"/>
            <a:ext cx="1146658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Supervise</a:t>
            </a:r>
            <a:endParaRPr lang="en-US" sz="1620" dirty="0"/>
          </a:p>
        </p:txBody>
      </p:sp>
      <p:sp>
        <p:nvSpPr>
          <p:cNvPr id="30" name="Text 22"/>
          <p:cNvSpPr/>
          <p:nvPr/>
        </p:nvSpPr>
        <p:spPr>
          <a:xfrm>
            <a:off x="5219670" y="4667280"/>
            <a:ext cx="1599438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A6B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Adult support until at</a:t>
            </a:r>
            <a:endParaRPr lang="en-US" sz="1020" dirty="0"/>
          </a:p>
        </p:txBody>
      </p:sp>
      <p:sp>
        <p:nvSpPr>
          <p:cNvPr id="31" name="Text 23"/>
          <p:cNvSpPr/>
          <p:nvPr/>
        </p:nvSpPr>
        <p:spPr>
          <a:xfrm>
            <a:off x="5219670" y="4857750"/>
            <a:ext cx="934898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A6B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least seven.</a:t>
            </a:r>
            <a:endParaRPr lang="en-US" sz="102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750" y="4537710"/>
            <a:ext cx="167610" cy="167610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3973800"/>
            <a:ext cx="1889790" cy="129543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383780" y="414909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80" dirty="0"/>
          </a:p>
        </p:txBody>
      </p:sp>
      <p:sp>
        <p:nvSpPr>
          <p:cNvPr id="35" name="Text 25"/>
          <p:cNvSpPr/>
          <p:nvPr/>
        </p:nvSpPr>
        <p:spPr>
          <a:xfrm>
            <a:off x="7383780" y="4385280"/>
            <a:ext cx="1099337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Spit only</a:t>
            </a:r>
            <a:endParaRPr lang="en-US" sz="1620" dirty="0"/>
          </a:p>
        </p:txBody>
      </p:sp>
      <p:sp>
        <p:nvSpPr>
          <p:cNvPr id="36" name="Text 26"/>
          <p:cNvSpPr/>
          <p:nvPr/>
        </p:nvSpPr>
        <p:spPr>
          <a:xfrm>
            <a:off x="7383780" y="4697730"/>
            <a:ext cx="131445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 not rinse after</a:t>
            </a:r>
            <a:endParaRPr lang="en-US" sz="1020" dirty="0"/>
          </a:p>
        </p:txBody>
      </p:sp>
      <p:sp>
        <p:nvSpPr>
          <p:cNvPr id="37" name="Text 27"/>
          <p:cNvSpPr/>
          <p:nvPr/>
        </p:nvSpPr>
        <p:spPr>
          <a:xfrm>
            <a:off x="7383780" y="4888200"/>
            <a:ext cx="75095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brushing.</a:t>
            </a:r>
            <a:endParaRPr lang="en-US" sz="1020" dirty="0"/>
          </a:p>
        </p:txBody>
      </p:sp>
      <p:sp>
        <p:nvSpPr>
          <p:cNvPr id="38" name="Text 28"/>
          <p:cNvSpPr/>
          <p:nvPr/>
        </p:nvSpPr>
        <p:spPr>
          <a:xfrm>
            <a:off x="731520" y="5509260"/>
            <a:ext cx="847347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DOSE BY AGE</a:t>
            </a:r>
            <a:endParaRPr lang="en-US" sz="108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852160"/>
            <a:ext cx="4091940" cy="123444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059698" y="6259800"/>
            <a:ext cx="76105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smear</a:t>
            </a:r>
            <a:endParaRPr lang="en-US" sz="1800" dirty="0"/>
          </a:p>
        </p:txBody>
      </p:sp>
      <p:sp>
        <p:nvSpPr>
          <p:cNvPr id="41" name="Text 30"/>
          <p:cNvSpPr/>
          <p:nvPr/>
        </p:nvSpPr>
        <p:spPr>
          <a:xfrm>
            <a:off x="1161928" y="6838980"/>
            <a:ext cx="675513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rice-size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2004090" y="6236940"/>
            <a:ext cx="85633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&lt;3 years</a:t>
            </a:r>
            <a:endParaRPr lang="en-US" sz="1380" dirty="0"/>
          </a:p>
        </p:txBody>
      </p:sp>
      <p:sp>
        <p:nvSpPr>
          <p:cNvPr id="43" name="Text 32"/>
          <p:cNvSpPr/>
          <p:nvPr/>
        </p:nvSpPr>
        <p:spPr>
          <a:xfrm>
            <a:off x="2004090" y="6511260"/>
            <a:ext cx="1017803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Small amount.</a:t>
            </a:r>
            <a:endParaRPr lang="en-US" sz="102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1610" y="5852160"/>
            <a:ext cx="4091940" cy="123444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368534" y="6316950"/>
            <a:ext cx="50136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</a:t>
            </a:r>
            <a:endParaRPr lang="en-US" sz="1800" dirty="0"/>
          </a:p>
        </p:txBody>
      </p:sp>
      <p:sp>
        <p:nvSpPr>
          <p:cNvPr id="46" name="Text 34"/>
          <p:cNvSpPr/>
          <p:nvPr/>
        </p:nvSpPr>
        <p:spPr>
          <a:xfrm>
            <a:off x="5786049" y="6431250"/>
            <a:ext cx="361188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size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6294090" y="6236940"/>
            <a:ext cx="96850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3-6 years</a:t>
            </a:r>
            <a:endParaRPr lang="en-US" sz="1380" dirty="0"/>
          </a:p>
        </p:txBody>
      </p:sp>
      <p:sp>
        <p:nvSpPr>
          <p:cNvPr id="48" name="Text 36"/>
          <p:cNvSpPr/>
          <p:nvPr/>
        </p:nvSpPr>
        <p:spPr>
          <a:xfrm>
            <a:off x="6294090" y="6511260"/>
            <a:ext cx="130279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Pea-sized amount.</a:t>
            </a:r>
            <a:endParaRPr lang="en-US" sz="102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9310" y="2316450"/>
            <a:ext cx="4419570" cy="4770150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944850" y="7444770"/>
            <a:ext cx="270205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simple parent message.</a:t>
            </a:r>
            <a:endParaRPr lang="en-US" sz="1620" dirty="0"/>
          </a:p>
        </p:txBody>
      </p:sp>
      <p:sp>
        <p:nvSpPr>
          <p:cNvPr id="52" name="Shape 39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3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4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5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46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7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49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0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1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2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3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4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5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6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67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68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69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0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1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2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3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4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16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009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769431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OHE | MI | AG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63937"/>
            <a:ext cx="3769431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Pendidikan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290542" y="1292504"/>
            <a:ext cx="185851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Perlu Berulang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73600"/>
            <a:ext cx="44193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5430" y="2286000"/>
            <a:ext cx="154472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264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BEHAVIOUR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31520" y="2636490"/>
            <a:ext cx="113141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OHE, MI and AG support long-term behaviour change.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731520" y="3215670"/>
            <a:ext cx="1325880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CONVERSATION MODEL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31520" y="3528030"/>
            <a:ext cx="2292035" cy="1061161"/>
          </a:xfrm>
          <a:prstGeom prst="roundRect">
            <a:avLst>
              <a:gd name="adj" fmla="val 19665"/>
            </a:avLst>
          </a:prstGeom>
          <a:solidFill>
            <a:srgbClr val="FFFFFF">
              <a:alpha val="56000"/>
            </a:srgbClr>
          </a:solidFill>
          <a:ln w="9525">
            <a:solidFill>
              <a:srgbClr val="0E110B">
                <a:alpha val="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1990" y="371859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921990" y="3886200"/>
            <a:ext cx="50749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21990" y="4215293"/>
            <a:ext cx="228577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Feeding, brushing, barriers.</a:t>
            </a:r>
            <a:endParaRPr lang="en-US" sz="114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6" y="3944264"/>
            <a:ext cx="228600" cy="2286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450306" y="3528030"/>
            <a:ext cx="2292218" cy="1061161"/>
          </a:xfrm>
          <a:prstGeom prst="roundRect">
            <a:avLst>
              <a:gd name="adj" fmla="val 19665"/>
            </a:avLst>
          </a:prstGeom>
          <a:solidFill>
            <a:srgbClr val="FFFFFF">
              <a:alpha val="56000"/>
            </a:srgbClr>
          </a:solidFill>
          <a:ln w="9525">
            <a:solidFill>
              <a:srgbClr val="0E110B">
                <a:alpha val="6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40775" y="371859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3640775" y="3886200"/>
            <a:ext cx="88468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Affirm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640775" y="4215293"/>
            <a:ext cx="177469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from what works.</a:t>
            </a:r>
            <a:endParaRPr lang="en-US" sz="114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553" y="3944264"/>
            <a:ext cx="228600" cy="22860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182" y="3482310"/>
            <a:ext cx="2292035" cy="1061161"/>
          </a:xfrm>
          <a:prstGeom prst="rect">
            <a:avLst/>
          </a:prstGeom>
          <a:effectLst>
            <a:outerShdw sx="100000" sy="100000" kx="0" ky="0" algn="bl" rotWithShape="0" blurRad="304800" dist="228600" dir="5400000">
              <a:srgbClr val="86D62B">
                <a:alpha val="70000"/>
              </a:srgbClr>
            </a:outerShdw>
          </a:effectLst>
        </p:spPr>
      </p:pic>
      <p:sp>
        <p:nvSpPr>
          <p:cNvPr id="25" name="Shape 19"/>
          <p:cNvSpPr/>
          <p:nvPr/>
        </p:nvSpPr>
        <p:spPr>
          <a:xfrm>
            <a:off x="6359743" y="3383280"/>
            <a:ext cx="1106607" cy="213330"/>
          </a:xfrm>
          <a:prstGeom prst="roundRect">
            <a:avLst>
              <a:gd name="adj" fmla="val 260847"/>
            </a:avLst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66362" y="3383280"/>
            <a:ext cx="124320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40" b="1" spc="105" kern="0" dirty="0">
                <a:solidFill>
                  <a:srgbClr val="FAFA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TRAINED STAFF</a:t>
            </a:r>
            <a:endParaRPr lang="en-US" sz="840" dirty="0"/>
          </a:p>
        </p:txBody>
      </p:sp>
      <p:sp>
        <p:nvSpPr>
          <p:cNvPr id="27" name="Text 21"/>
          <p:cNvSpPr/>
          <p:nvPr/>
        </p:nvSpPr>
        <p:spPr>
          <a:xfrm>
            <a:off x="6359743" y="367287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>
                    <a:alpha val="5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6359743" y="3840480"/>
            <a:ext cx="88468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Advise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359743" y="4169573"/>
            <a:ext cx="1980286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5FA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or two clear changes.</a:t>
            </a:r>
            <a:endParaRPr lang="en-US" sz="114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338" y="3944264"/>
            <a:ext cx="228600" cy="2286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888059" y="3528030"/>
            <a:ext cx="2292035" cy="1061161"/>
          </a:xfrm>
          <a:prstGeom prst="roundRect">
            <a:avLst>
              <a:gd name="adj" fmla="val 19665"/>
            </a:avLst>
          </a:prstGeom>
          <a:solidFill>
            <a:srgbClr val="FFFFFF">
              <a:alpha val="56000"/>
            </a:srgbClr>
          </a:solidFill>
          <a:ln w="9525">
            <a:solidFill>
              <a:srgbClr val="0E110B">
                <a:alpha val="6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078529" y="371859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80" dirty="0"/>
          </a:p>
        </p:txBody>
      </p:sp>
      <p:sp>
        <p:nvSpPr>
          <p:cNvPr id="33" name="Text 26"/>
          <p:cNvSpPr/>
          <p:nvPr/>
        </p:nvSpPr>
        <p:spPr>
          <a:xfrm>
            <a:off x="9078529" y="3886200"/>
            <a:ext cx="75895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Agree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9078529" y="4215293"/>
            <a:ext cx="209321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 realistic home action.</a:t>
            </a:r>
            <a:endParaRPr lang="en-US" sz="114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9124" y="3944264"/>
            <a:ext cx="228600" cy="2286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1606845" y="3528030"/>
            <a:ext cx="2292035" cy="1061161"/>
          </a:xfrm>
          <a:prstGeom prst="roundRect">
            <a:avLst>
              <a:gd name="adj" fmla="val 19665"/>
            </a:avLst>
          </a:prstGeom>
          <a:solidFill>
            <a:srgbClr val="FFFFFF">
              <a:alpha val="56000"/>
            </a:srgbClr>
          </a:solidFill>
          <a:ln w="9525">
            <a:solidFill>
              <a:srgbClr val="0E110B">
                <a:alpha val="6000"/>
              </a:srgbClr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11797314" y="3718590"/>
            <a:ext cx="28529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80" dirty="0"/>
          </a:p>
        </p:txBody>
      </p:sp>
      <p:sp>
        <p:nvSpPr>
          <p:cNvPr id="38" name="Text 30"/>
          <p:cNvSpPr/>
          <p:nvPr/>
        </p:nvSpPr>
        <p:spPr>
          <a:xfrm>
            <a:off x="11797314" y="3886200"/>
            <a:ext cx="88468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11797314" y="4215293"/>
            <a:ext cx="172836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Reinforce and adjust.</a:t>
            </a:r>
            <a:endParaRPr lang="en-US" sz="1140" dirty="0"/>
          </a:p>
        </p:txBody>
      </p:sp>
      <p:sp>
        <p:nvSpPr>
          <p:cNvPr id="40" name="Shape 32"/>
          <p:cNvSpPr/>
          <p:nvPr/>
        </p:nvSpPr>
        <p:spPr>
          <a:xfrm>
            <a:off x="731520" y="5455310"/>
            <a:ext cx="3166110" cy="99121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937260" y="5630601"/>
            <a:ext cx="1156287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8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CAREGIVERS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937260" y="5767761"/>
            <a:ext cx="58686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OHE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937260" y="6087801"/>
            <a:ext cx="2491359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Expectant mothers, new mothers.</a:t>
            </a:r>
            <a:endParaRPr lang="en-US" sz="1140" dirty="0"/>
          </a:p>
        </p:txBody>
      </p:sp>
      <p:sp>
        <p:nvSpPr>
          <p:cNvPr id="44" name="Shape 36"/>
          <p:cNvSpPr/>
          <p:nvPr/>
        </p:nvSpPr>
        <p:spPr>
          <a:xfrm>
            <a:off x="4065240" y="5455310"/>
            <a:ext cx="3166110" cy="99121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270980" y="5630601"/>
            <a:ext cx="1011555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8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RISK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4270980" y="5767761"/>
            <a:ext cx="40233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</a:t>
            </a:r>
            <a:endParaRPr lang="en-US" sz="1800" dirty="0"/>
          </a:p>
        </p:txBody>
      </p:sp>
      <p:sp>
        <p:nvSpPr>
          <p:cNvPr id="47" name="Text 39"/>
          <p:cNvSpPr/>
          <p:nvPr/>
        </p:nvSpPr>
        <p:spPr>
          <a:xfrm>
            <a:off x="4270980" y="6087801"/>
            <a:ext cx="237843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parents, by trained staff.</a:t>
            </a:r>
            <a:endParaRPr lang="en-US" sz="1140" dirty="0"/>
          </a:p>
        </p:txBody>
      </p:sp>
      <p:sp>
        <p:nvSpPr>
          <p:cNvPr id="48" name="Shape 40"/>
          <p:cNvSpPr/>
          <p:nvPr/>
        </p:nvSpPr>
        <p:spPr>
          <a:xfrm>
            <a:off x="7399050" y="5455310"/>
            <a:ext cx="3166110" cy="99121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604790" y="5630601"/>
            <a:ext cx="1156287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8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AFTERBIRTH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7604790" y="5767761"/>
            <a:ext cx="40233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</a:t>
            </a:r>
            <a:endParaRPr lang="en-US" sz="1800" dirty="0"/>
          </a:p>
        </p:txBody>
      </p:sp>
      <p:sp>
        <p:nvSpPr>
          <p:cNvPr id="51" name="Text 43"/>
          <p:cNvSpPr/>
          <p:nvPr/>
        </p:nvSpPr>
        <p:spPr>
          <a:xfrm>
            <a:off x="7604790" y="6087801"/>
            <a:ext cx="204688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Early proactive guidance.</a:t>
            </a:r>
            <a:endParaRPr lang="en-US" sz="1140" dirty="0"/>
          </a:p>
        </p:txBody>
      </p:sp>
      <p:sp>
        <p:nvSpPr>
          <p:cNvPr id="52" name="Shape 44"/>
          <p:cNvSpPr/>
          <p:nvPr/>
        </p:nvSpPr>
        <p:spPr>
          <a:xfrm>
            <a:off x="10732770" y="5455310"/>
            <a:ext cx="3166110" cy="99121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10938510" y="5630601"/>
            <a:ext cx="144418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8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SPECIAL NEEDS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0938510" y="5767761"/>
            <a:ext cx="183794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Social stories</a:t>
            </a:r>
            <a:endParaRPr lang="en-US" sz="1800" dirty="0"/>
          </a:p>
        </p:txBody>
      </p:sp>
      <p:sp>
        <p:nvSpPr>
          <p:cNvPr id="55" name="Text 47"/>
          <p:cNvSpPr/>
          <p:nvPr/>
        </p:nvSpPr>
        <p:spPr>
          <a:xfrm>
            <a:off x="10938510" y="6087801"/>
            <a:ext cx="285620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5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Adjunct for selected young children.</a:t>
            </a:r>
            <a:endParaRPr lang="en-US" sz="1140" dirty="0"/>
          </a:p>
        </p:txBody>
      </p:sp>
      <p:sp>
        <p:nvSpPr>
          <p:cNvPr id="56" name="Text 48"/>
          <p:cNvSpPr/>
          <p:nvPr/>
        </p:nvSpPr>
        <p:spPr>
          <a:xfrm>
            <a:off x="731520" y="6785580"/>
            <a:ext cx="187924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68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 ANCHORS</a:t>
            </a:r>
            <a:endParaRPr lang="en-US" sz="96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1702" y="6644670"/>
            <a:ext cx="1866565" cy="44193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2594153" y="6736110"/>
            <a:ext cx="1515313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sesi penerangan</a:t>
            </a:r>
            <a:endParaRPr lang="en-US" sz="1380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978" y="6644670"/>
            <a:ext cx="1165860" cy="44193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4567337" y="6736110"/>
            <a:ext cx="78447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penjaga</a:t>
            </a:r>
            <a:endParaRPr lang="en-US" sz="1380" dirty="0"/>
          </a:p>
        </p:txBody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7457" y="6644670"/>
            <a:ext cx="1489192" cy="441930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5839907" y="6736110"/>
            <a:ext cx="1322527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risiko tinggi</a:t>
            </a:r>
            <a:endParaRPr lang="en-US" sz="138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3359" y="6644670"/>
            <a:ext cx="1145469" cy="441930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7435809" y="6736110"/>
            <a:ext cx="78447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susulan</a:t>
            </a:r>
            <a:endParaRPr lang="en-US" sz="1380" dirty="0"/>
          </a:p>
        </p:txBody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538" y="6644670"/>
            <a:ext cx="1525036" cy="441930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8687989" y="6736110"/>
            <a:ext cx="122613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mesra klinik</a:t>
            </a:r>
            <a:endParaRPr lang="en-US" sz="1380" dirty="0"/>
          </a:p>
        </p:txBody>
      </p:sp>
      <p:sp>
        <p:nvSpPr>
          <p:cNvPr id="67" name="Shape 54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5"/>
          <p:cNvSpPr/>
          <p:nvPr/>
        </p:nvSpPr>
        <p:spPr>
          <a:xfrm>
            <a:off x="944850" y="7444770"/>
            <a:ext cx="166512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Tailor advice.</a:t>
            </a:r>
            <a:endParaRPr lang="en-US" sz="1620" dirty="0"/>
          </a:p>
        </p:txBody>
      </p:sp>
      <p:sp>
        <p:nvSpPr>
          <p:cNvPr id="69" name="Shape 56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0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1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2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3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4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5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6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67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68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69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0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1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2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3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4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5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6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7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78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79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0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1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2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3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4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5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86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87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88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89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0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1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16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009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453176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PREVENTIVE MATERIALS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63937"/>
            <a:ext cx="4531766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Bukan Semua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733752" y="1292504"/>
            <a:ext cx="125656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Sama Kuat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73600"/>
            <a:ext cx="44193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5430" y="2286000"/>
            <a:ext cx="281879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264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PROFESSIONAL CARE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31520" y="2651760"/>
            <a:ext cx="39335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75"/>
              </a:lnSpc>
              <a:buNone/>
            </a:pPr>
            <a:r>
              <a:rPr lang="en-US" sz="174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Prioritise fluoride and plaque control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31520" y="2978749"/>
            <a:ext cx="30465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75"/>
              </a:lnSpc>
              <a:buNone/>
            </a:pPr>
            <a:r>
              <a:rPr lang="en-US" sz="174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 adjunct materials.</a:t>
            </a:r>
            <a:endParaRPr lang="en-US" sz="1740" dirty="0"/>
          </a:p>
        </p:txBody>
      </p:sp>
      <p:sp>
        <p:nvSpPr>
          <p:cNvPr id="14" name="Text 11"/>
          <p:cNvSpPr/>
          <p:nvPr/>
        </p:nvSpPr>
        <p:spPr>
          <a:xfrm>
            <a:off x="731520" y="3610417"/>
            <a:ext cx="451101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8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 CRITERIA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31520" y="3995288"/>
            <a:ext cx="4419570" cy="7375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4721250"/>
            <a:ext cx="4419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4170487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1158270" y="4094317"/>
            <a:ext cx="1370686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6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Caries risk</a:t>
            </a:r>
            <a:endParaRPr lang="en-US" sz="1680" dirty="0"/>
          </a:p>
        </p:txBody>
      </p:sp>
      <p:sp>
        <p:nvSpPr>
          <p:cNvPr id="19" name="Text 16"/>
          <p:cNvSpPr/>
          <p:nvPr/>
        </p:nvSpPr>
        <p:spPr>
          <a:xfrm>
            <a:off x="1158270" y="4374672"/>
            <a:ext cx="258165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 risk needs tighter recall.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" y="4732843"/>
            <a:ext cx="4419570" cy="7375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458805"/>
            <a:ext cx="4419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908133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1158270" y="4831872"/>
            <a:ext cx="172273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6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Plaque control</a:t>
            </a:r>
            <a:endParaRPr lang="en-US" sz="1680" dirty="0"/>
          </a:p>
        </p:txBody>
      </p:sp>
      <p:sp>
        <p:nvSpPr>
          <p:cNvPr id="24" name="Text 21"/>
          <p:cNvSpPr/>
          <p:nvPr/>
        </p:nvSpPr>
        <p:spPr>
          <a:xfrm>
            <a:off x="1158270" y="5112319"/>
            <a:ext cx="258165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Home routine must be realistic.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" y="5470489"/>
            <a:ext cx="4419570" cy="7375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6196451"/>
            <a:ext cx="4419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645688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1158270" y="5569519"/>
            <a:ext cx="118506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6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Isolation</a:t>
            </a:r>
            <a:endParaRPr lang="en-US" sz="1680" dirty="0"/>
          </a:p>
        </p:txBody>
      </p:sp>
      <p:sp>
        <p:nvSpPr>
          <p:cNvPr id="29" name="Text 26"/>
          <p:cNvSpPr/>
          <p:nvPr/>
        </p:nvSpPr>
        <p:spPr>
          <a:xfrm>
            <a:off x="1158270" y="5849874"/>
            <a:ext cx="270052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Consider before fissure sealant.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31520" y="6383335"/>
            <a:ext cx="3331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320" dirty="0"/>
          </a:p>
        </p:txBody>
      </p:sp>
      <p:sp>
        <p:nvSpPr>
          <p:cNvPr id="31" name="Text 28"/>
          <p:cNvSpPr/>
          <p:nvPr/>
        </p:nvSpPr>
        <p:spPr>
          <a:xfrm>
            <a:off x="1158270" y="6307074"/>
            <a:ext cx="141975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6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Cooperation</a:t>
            </a:r>
            <a:endParaRPr lang="en-US" sz="1680" dirty="0"/>
          </a:p>
        </p:txBody>
      </p:sp>
      <p:sp>
        <p:nvSpPr>
          <p:cNvPr id="32" name="Text 29"/>
          <p:cNvSpPr/>
          <p:nvPr/>
        </p:nvSpPr>
        <p:spPr>
          <a:xfrm>
            <a:off x="1158270" y="6587520"/>
            <a:ext cx="236524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 safe, staged treatment.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08290" y="2286000"/>
            <a:ext cx="838203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8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INTERVENTION NOTES</a:t>
            </a:r>
            <a:endParaRPr lang="en-US" sz="108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347" y="1199967"/>
            <a:ext cx="6789786" cy="4888565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859750" y="2804190"/>
            <a:ext cx="304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982438" y="2827050"/>
            <a:ext cx="198983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FLUORIDE VARNISH</a:t>
            </a:r>
            <a:endParaRPr lang="en-US" sz="1020" dirty="0"/>
          </a:p>
        </p:txBody>
      </p:sp>
      <p:sp>
        <p:nvSpPr>
          <p:cNvPr id="37" name="Text 33"/>
          <p:cNvSpPr/>
          <p:nvPr/>
        </p:nvSpPr>
        <p:spPr>
          <a:xfrm>
            <a:off x="5859750" y="3108960"/>
            <a:ext cx="364233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FV</a:t>
            </a:r>
            <a:endParaRPr lang="en-US" sz="2280" dirty="0"/>
          </a:p>
        </p:txBody>
      </p:sp>
      <p:sp>
        <p:nvSpPr>
          <p:cNvPr id="38" name="Text 34"/>
          <p:cNvSpPr/>
          <p:nvPr/>
        </p:nvSpPr>
        <p:spPr>
          <a:xfrm>
            <a:off x="5859750" y="3489990"/>
            <a:ext cx="3642330" cy="254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0.9% 3-monthly or 5% 6-monthly.</a:t>
            </a:r>
            <a:endParaRPr lang="en-US" sz="1260" dirty="0"/>
          </a:p>
        </p:txBody>
      </p:sp>
      <p:sp>
        <p:nvSpPr>
          <p:cNvPr id="39" name="Text 35"/>
          <p:cNvSpPr/>
          <p:nvPr/>
        </p:nvSpPr>
        <p:spPr>
          <a:xfrm>
            <a:off x="5859750" y="4171950"/>
            <a:ext cx="51419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确定性</a:t>
            </a:r>
            <a:endParaRPr lang="en-US" sz="960" dirty="0"/>
          </a:p>
        </p:txBody>
      </p:sp>
      <p:sp>
        <p:nvSpPr>
          <p:cNvPr id="40" name="Text 36"/>
          <p:cNvSpPr/>
          <p:nvPr/>
        </p:nvSpPr>
        <p:spPr>
          <a:xfrm>
            <a:off x="9014704" y="409578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</a:t>
            </a:r>
            <a:endParaRPr lang="en-US" sz="1560" dirty="0"/>
          </a:p>
        </p:txBody>
      </p:sp>
      <p:sp>
        <p:nvSpPr>
          <p:cNvPr id="41" name="Text 37"/>
          <p:cNvSpPr/>
          <p:nvPr/>
        </p:nvSpPr>
        <p:spPr>
          <a:xfrm>
            <a:off x="9260403" y="4095780"/>
            <a:ext cx="2416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156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845070" y="2598450"/>
            <a:ext cx="4053810" cy="21526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0096530" y="2834640"/>
            <a:ext cx="304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12395332" y="2857500"/>
            <a:ext cx="16221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 MOLAR</a:t>
            </a:r>
            <a:endParaRPr lang="en-US" sz="1020" dirty="0"/>
          </a:p>
        </p:txBody>
      </p:sp>
      <p:sp>
        <p:nvSpPr>
          <p:cNvPr id="45" name="Text 40"/>
          <p:cNvSpPr/>
          <p:nvPr/>
        </p:nvSpPr>
        <p:spPr>
          <a:xfrm>
            <a:off x="10096530" y="3139410"/>
            <a:ext cx="364233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Sealant</a:t>
            </a:r>
            <a:endParaRPr lang="en-US" sz="2280" dirty="0"/>
          </a:p>
        </p:txBody>
      </p:sp>
      <p:sp>
        <p:nvSpPr>
          <p:cNvPr id="46" name="Text 41"/>
          <p:cNvSpPr/>
          <p:nvPr/>
        </p:nvSpPr>
        <p:spPr>
          <a:xfrm>
            <a:off x="10096530" y="3520440"/>
            <a:ext cx="3642330" cy="254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Consider risk and isolation.</a:t>
            </a:r>
            <a:endParaRPr lang="en-US" sz="1260" dirty="0"/>
          </a:p>
        </p:txBody>
      </p:sp>
      <p:sp>
        <p:nvSpPr>
          <p:cNvPr id="47" name="Text 42"/>
          <p:cNvSpPr/>
          <p:nvPr/>
        </p:nvSpPr>
        <p:spPr>
          <a:xfrm>
            <a:off x="10096530" y="4202400"/>
            <a:ext cx="51419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确定性</a:t>
            </a:r>
            <a:endParaRPr lang="en-US" sz="960" dirty="0"/>
          </a:p>
        </p:txBody>
      </p:sp>
      <p:sp>
        <p:nvSpPr>
          <p:cNvPr id="48" name="Text 43"/>
          <p:cNvSpPr/>
          <p:nvPr/>
        </p:nvSpPr>
        <p:spPr>
          <a:xfrm>
            <a:off x="13251393" y="412623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65</a:t>
            </a:r>
            <a:endParaRPr lang="en-US" sz="1560" dirty="0"/>
          </a:p>
        </p:txBody>
      </p:sp>
      <p:sp>
        <p:nvSpPr>
          <p:cNvPr id="49" name="Text 44"/>
          <p:cNvSpPr/>
          <p:nvPr/>
        </p:nvSpPr>
        <p:spPr>
          <a:xfrm>
            <a:off x="13497184" y="4126230"/>
            <a:ext cx="2416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156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608290" y="4933920"/>
            <a:ext cx="4053810" cy="215268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859750" y="5170200"/>
            <a:ext cx="304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8206649" y="5193060"/>
            <a:ext cx="16221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TOPICAL CREAM</a:t>
            </a:r>
            <a:endParaRPr lang="en-US" sz="1020" dirty="0"/>
          </a:p>
        </p:txBody>
      </p:sp>
      <p:sp>
        <p:nvSpPr>
          <p:cNvPr id="53" name="Text 47"/>
          <p:cNvSpPr/>
          <p:nvPr/>
        </p:nvSpPr>
        <p:spPr>
          <a:xfrm>
            <a:off x="5859750" y="5474970"/>
            <a:ext cx="364233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CPP-ACP</a:t>
            </a:r>
            <a:endParaRPr lang="en-US" sz="2280" dirty="0"/>
          </a:p>
        </p:txBody>
      </p:sp>
      <p:sp>
        <p:nvSpPr>
          <p:cNvPr id="54" name="Text 48"/>
          <p:cNvSpPr/>
          <p:nvPr/>
        </p:nvSpPr>
        <p:spPr>
          <a:xfrm>
            <a:off x="5859750" y="5856000"/>
            <a:ext cx="3642330" cy="254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clear added benefit shown.</a:t>
            </a:r>
            <a:endParaRPr lang="en-US" sz="1260" dirty="0"/>
          </a:p>
        </p:txBody>
      </p:sp>
      <p:sp>
        <p:nvSpPr>
          <p:cNvPr id="55" name="Text 49"/>
          <p:cNvSpPr/>
          <p:nvPr/>
        </p:nvSpPr>
        <p:spPr>
          <a:xfrm>
            <a:off x="5859750" y="6537960"/>
            <a:ext cx="51419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确定性</a:t>
            </a:r>
            <a:endParaRPr lang="en-US" sz="960" dirty="0"/>
          </a:p>
        </p:txBody>
      </p:sp>
      <p:sp>
        <p:nvSpPr>
          <p:cNvPr id="56" name="Text 50"/>
          <p:cNvSpPr/>
          <p:nvPr/>
        </p:nvSpPr>
        <p:spPr>
          <a:xfrm>
            <a:off x="9014704" y="646179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45</a:t>
            </a:r>
            <a:endParaRPr lang="en-US" sz="1560" dirty="0"/>
          </a:p>
        </p:txBody>
      </p:sp>
      <p:sp>
        <p:nvSpPr>
          <p:cNvPr id="57" name="Text 51"/>
          <p:cNvSpPr/>
          <p:nvPr/>
        </p:nvSpPr>
        <p:spPr>
          <a:xfrm>
            <a:off x="9260403" y="6461790"/>
            <a:ext cx="2416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1560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845070" y="4933920"/>
            <a:ext cx="4053810" cy="2152680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0096530" y="5170200"/>
            <a:ext cx="304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60" name="Text 53"/>
          <p:cNvSpPr/>
          <p:nvPr/>
        </p:nvSpPr>
        <p:spPr>
          <a:xfrm>
            <a:off x="12717750" y="5193060"/>
            <a:ext cx="129582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SUBSTITUTE</a:t>
            </a:r>
            <a:endParaRPr lang="en-US" sz="1020" dirty="0"/>
          </a:p>
        </p:txBody>
      </p:sp>
      <p:sp>
        <p:nvSpPr>
          <p:cNvPr id="61" name="Text 54"/>
          <p:cNvSpPr/>
          <p:nvPr/>
        </p:nvSpPr>
        <p:spPr>
          <a:xfrm>
            <a:off x="10096530" y="5474970"/>
            <a:ext cx="364233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Xylitol</a:t>
            </a:r>
            <a:endParaRPr lang="en-US" sz="2280" dirty="0"/>
          </a:p>
        </p:txBody>
      </p:sp>
      <p:sp>
        <p:nvSpPr>
          <p:cNvPr id="62" name="Text 55"/>
          <p:cNvSpPr/>
          <p:nvPr/>
        </p:nvSpPr>
        <p:spPr>
          <a:xfrm>
            <a:off x="10096530" y="5856000"/>
            <a:ext cx="3642330" cy="2545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 non-cariogenic sugar substitute.</a:t>
            </a:r>
            <a:endParaRPr lang="en-US" sz="1260" dirty="0"/>
          </a:p>
        </p:txBody>
      </p:sp>
      <p:sp>
        <p:nvSpPr>
          <p:cNvPr id="63" name="Text 56"/>
          <p:cNvSpPr/>
          <p:nvPr/>
        </p:nvSpPr>
        <p:spPr>
          <a:xfrm>
            <a:off x="10096530" y="6537960"/>
            <a:ext cx="51419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确定性</a:t>
            </a:r>
            <a:endParaRPr lang="en-US" sz="960" dirty="0"/>
          </a:p>
        </p:txBody>
      </p:sp>
      <p:sp>
        <p:nvSpPr>
          <p:cNvPr id="64" name="Text 57"/>
          <p:cNvSpPr/>
          <p:nvPr/>
        </p:nvSpPr>
        <p:spPr>
          <a:xfrm>
            <a:off x="13251393" y="646179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</a:t>
            </a:r>
            <a:endParaRPr lang="en-US" sz="1560" dirty="0"/>
          </a:p>
        </p:txBody>
      </p:sp>
      <p:sp>
        <p:nvSpPr>
          <p:cNvPr id="65" name="Text 58"/>
          <p:cNvSpPr/>
          <p:nvPr/>
        </p:nvSpPr>
        <p:spPr>
          <a:xfrm>
            <a:off x="13497184" y="6461790"/>
            <a:ext cx="2416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1560" dirty="0"/>
          </a:p>
        </p:txBody>
      </p:sp>
      <p:sp>
        <p:nvSpPr>
          <p:cNvPr id="66" name="Shape 59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944850" y="7444770"/>
            <a:ext cx="263621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adjuncts carefully.</a:t>
            </a:r>
            <a:endParaRPr lang="en-US" sz="1620" dirty="0"/>
          </a:p>
        </p:txBody>
      </p:sp>
      <p:sp>
        <p:nvSpPr>
          <p:cNvPr id="68" name="Shape 61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16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009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09288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OFFICER WORKFLOW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63937"/>
            <a:ext cx="2329708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Triage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628961" y="1292504"/>
            <a:ext cx="148132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Then Recall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73600"/>
            <a:ext cx="44193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5430" y="2286000"/>
            <a:ext cx="3526231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264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KKIA / IM COORDINATION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31520" y="2636490"/>
            <a:ext cx="113141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child under six gets CRA, appointment card and risk-based follow-up.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731520" y="3215670"/>
            <a:ext cx="1325880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CLINIC OPERATING RHYTHM</a:t>
            </a:r>
            <a:endParaRPr lang="en-US" sz="108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29823"/>
            <a:ext cx="3131820" cy="1859981"/>
          </a:xfrm>
          <a:prstGeom prst="rect">
            <a:avLst/>
          </a:prstGeom>
          <a:effectLst>
            <a:outerShdw sx="100000" sy="100000" kx="0" ky="0" algn="bl" rotWithShape="0" blurRad="304800" dist="228600" dir="5400000">
              <a:srgbClr val="86D62B">
                <a:alpha val="64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967710" y="3635563"/>
            <a:ext cx="3119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A0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67710" y="3848892"/>
            <a:ext cx="151470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5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OHE + AG</a:t>
            </a:r>
            <a:endParaRPr lang="en-US" sz="2520" dirty="0"/>
          </a:p>
        </p:txBody>
      </p:sp>
      <p:sp>
        <p:nvSpPr>
          <p:cNvPr id="17" name="Shape 13"/>
          <p:cNvSpPr/>
          <p:nvPr/>
        </p:nvSpPr>
        <p:spPr>
          <a:xfrm>
            <a:off x="967710" y="4275643"/>
            <a:ext cx="856793" cy="312450"/>
          </a:xfrm>
          <a:prstGeom prst="roundRect">
            <a:avLst>
              <a:gd name="adj" fmla="val 178097"/>
            </a:avLst>
          </a:prstGeom>
          <a:solidFill>
            <a:srgbClr val="86D62B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89690" y="4275643"/>
            <a:ext cx="82638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5FA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frontline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967710" y="4641403"/>
            <a:ext cx="167152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4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Feeding, brushing,</a:t>
            </a:r>
            <a:endParaRPr lang="en-US" sz="1260" dirty="0"/>
          </a:p>
        </p:txBody>
      </p:sp>
      <p:sp>
        <p:nvSpPr>
          <p:cNvPr id="20" name="Text 16"/>
          <p:cNvSpPr/>
          <p:nvPr/>
        </p:nvSpPr>
        <p:spPr>
          <a:xfrm>
            <a:off x="967710" y="4858939"/>
            <a:ext cx="156911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4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caries awareness.</a:t>
            </a:r>
            <a:endParaRPr lang="en-US" sz="1260" dirty="0"/>
          </a:p>
        </p:txBody>
      </p:sp>
      <p:sp>
        <p:nvSpPr>
          <p:cNvPr id="21" name="Shape 17"/>
          <p:cNvSpPr/>
          <p:nvPr/>
        </p:nvSpPr>
        <p:spPr>
          <a:xfrm>
            <a:off x="4076670" y="3475543"/>
            <a:ext cx="3131820" cy="1859981"/>
          </a:xfrm>
          <a:prstGeom prst="roundRect">
            <a:avLst>
              <a:gd name="adj" fmla="val 12466"/>
            </a:avLst>
          </a:prstGeom>
          <a:solidFill>
            <a:srgbClr val="FFFFFF">
              <a:alpha val="56000"/>
            </a:srgbClr>
          </a:solidFill>
          <a:ln w="9525">
            <a:solidFill>
              <a:srgbClr val="0E110B">
                <a:alpha val="6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12950" y="3681283"/>
            <a:ext cx="3119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312950" y="3894612"/>
            <a:ext cx="724205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5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</a:t>
            </a:r>
            <a:endParaRPr lang="en-US" sz="2520" dirty="0"/>
          </a:p>
        </p:txBody>
      </p:sp>
      <p:sp>
        <p:nvSpPr>
          <p:cNvPr id="24" name="Shape 20"/>
          <p:cNvSpPr/>
          <p:nvPr/>
        </p:nvSpPr>
        <p:spPr>
          <a:xfrm>
            <a:off x="4312950" y="4321363"/>
            <a:ext cx="742950" cy="312450"/>
          </a:xfrm>
          <a:prstGeom prst="roundRect">
            <a:avLst>
              <a:gd name="adj" fmla="val 178097"/>
            </a:avLst>
          </a:prstGeom>
          <a:solidFill>
            <a:srgbClr val="0E110B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34840" y="4321363"/>
            <a:ext cx="746760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clinical</a:t>
            </a:r>
            <a:endParaRPr lang="en-US" sz="1140" dirty="0"/>
          </a:p>
        </p:txBody>
      </p:sp>
      <p:sp>
        <p:nvSpPr>
          <p:cNvPr id="26" name="Text 22"/>
          <p:cNvSpPr/>
          <p:nvPr/>
        </p:nvSpPr>
        <p:spPr>
          <a:xfrm>
            <a:off x="4312950" y="4687123"/>
            <a:ext cx="27052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4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Classify every child under six.</a:t>
            </a:r>
            <a:endParaRPr lang="en-US" sz="1260" dirty="0"/>
          </a:p>
        </p:txBody>
      </p:sp>
      <p:sp>
        <p:nvSpPr>
          <p:cNvPr id="27" name="Shape 23"/>
          <p:cNvSpPr/>
          <p:nvPr/>
        </p:nvSpPr>
        <p:spPr>
          <a:xfrm>
            <a:off x="7421910" y="3475543"/>
            <a:ext cx="3131820" cy="1859981"/>
          </a:xfrm>
          <a:prstGeom prst="roundRect">
            <a:avLst>
              <a:gd name="adj" fmla="val 12466"/>
            </a:avLst>
          </a:prstGeom>
          <a:solidFill>
            <a:srgbClr val="FFFFFF">
              <a:alpha val="56000"/>
            </a:srgbClr>
          </a:solidFill>
          <a:ln w="9525">
            <a:solidFill>
              <a:srgbClr val="0E110B">
                <a:alpha val="6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58100" y="3681283"/>
            <a:ext cx="3119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658100" y="3894612"/>
            <a:ext cx="1530706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5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LP1 card</a:t>
            </a:r>
            <a:endParaRPr lang="en-US" sz="2520" dirty="0"/>
          </a:p>
        </p:txBody>
      </p:sp>
      <p:sp>
        <p:nvSpPr>
          <p:cNvPr id="30" name="Shape 26"/>
          <p:cNvSpPr/>
          <p:nvPr/>
        </p:nvSpPr>
        <p:spPr>
          <a:xfrm>
            <a:off x="7658100" y="4321363"/>
            <a:ext cx="692841" cy="312450"/>
          </a:xfrm>
          <a:prstGeom prst="roundRect">
            <a:avLst>
              <a:gd name="adj" fmla="val 178097"/>
            </a:avLst>
          </a:prstGeom>
          <a:solidFill>
            <a:srgbClr val="0E110B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79990" y="4321363"/>
            <a:ext cx="540410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admin</a:t>
            </a:r>
            <a:endParaRPr lang="en-US" sz="1140" dirty="0"/>
          </a:p>
        </p:txBody>
      </p:sp>
      <p:sp>
        <p:nvSpPr>
          <p:cNvPr id="32" name="Text 28"/>
          <p:cNvSpPr/>
          <p:nvPr/>
        </p:nvSpPr>
        <p:spPr>
          <a:xfrm>
            <a:off x="7658100" y="4687123"/>
            <a:ext cx="27052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4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card and explain interval.</a:t>
            </a:r>
            <a:endParaRPr lang="en-US" sz="1260" dirty="0"/>
          </a:p>
        </p:txBody>
      </p:sp>
      <p:sp>
        <p:nvSpPr>
          <p:cNvPr id="33" name="Shape 29"/>
          <p:cNvSpPr/>
          <p:nvPr/>
        </p:nvSpPr>
        <p:spPr>
          <a:xfrm>
            <a:off x="10767060" y="3475543"/>
            <a:ext cx="3131820" cy="1859981"/>
          </a:xfrm>
          <a:prstGeom prst="roundRect">
            <a:avLst>
              <a:gd name="adj" fmla="val 12466"/>
            </a:avLst>
          </a:prstGeom>
          <a:solidFill>
            <a:srgbClr val="FFFFFF">
              <a:alpha val="56000"/>
            </a:srgbClr>
          </a:solidFill>
          <a:ln w="9525">
            <a:solidFill>
              <a:srgbClr val="0E110B">
                <a:alpha val="6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1003250" y="3681283"/>
            <a:ext cx="3119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1003250" y="3894612"/>
            <a:ext cx="167792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520" b="1" dirty="0">
                <a:solidFill>
                  <a:srgbClr val="0E11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FV recall</a:t>
            </a:r>
            <a:endParaRPr lang="en-US" sz="2520" dirty="0"/>
          </a:p>
        </p:txBody>
      </p:sp>
      <p:sp>
        <p:nvSpPr>
          <p:cNvPr id="36" name="Shape 32"/>
          <p:cNvSpPr/>
          <p:nvPr/>
        </p:nvSpPr>
        <p:spPr>
          <a:xfrm>
            <a:off x="11003250" y="4321363"/>
            <a:ext cx="918423" cy="312450"/>
          </a:xfrm>
          <a:prstGeom prst="roundRect">
            <a:avLst>
              <a:gd name="adj" fmla="val 178097"/>
            </a:avLst>
          </a:prstGeom>
          <a:solidFill>
            <a:srgbClr val="0E110B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125230" y="4321363"/>
            <a:ext cx="82638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follow-up</a:t>
            </a:r>
            <a:endParaRPr lang="en-US" sz="1140" dirty="0"/>
          </a:p>
        </p:txBody>
      </p:sp>
      <p:sp>
        <p:nvSpPr>
          <p:cNvPr id="38" name="Text 34"/>
          <p:cNvSpPr/>
          <p:nvPr/>
        </p:nvSpPr>
        <p:spPr>
          <a:xfrm>
            <a:off x="11003250" y="4687123"/>
            <a:ext cx="27052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4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Apply varnish by risk schedule.</a:t>
            </a:r>
            <a:endParaRPr lang="en-US" sz="1260" dirty="0"/>
          </a:p>
        </p:txBody>
      </p:sp>
      <p:sp>
        <p:nvSpPr>
          <p:cNvPr id="39" name="Text 35"/>
          <p:cNvSpPr/>
          <p:nvPr/>
        </p:nvSpPr>
        <p:spPr>
          <a:xfrm>
            <a:off x="1899339" y="5686105"/>
            <a:ext cx="95611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20" b="1" spc="179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OHE + AG</a:t>
            </a:r>
            <a:endParaRPr lang="en-US" sz="1020" dirty="0"/>
          </a:p>
        </p:txBody>
      </p:sp>
      <p:sp>
        <p:nvSpPr>
          <p:cNvPr id="40" name="Text 36"/>
          <p:cNvSpPr/>
          <p:nvPr/>
        </p:nvSpPr>
        <p:spPr>
          <a:xfrm>
            <a:off x="5450295" y="5686105"/>
            <a:ext cx="43778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20" b="1" spc="179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</a:t>
            </a:r>
            <a:endParaRPr lang="en-US" sz="1020" dirty="0"/>
          </a:p>
        </p:txBody>
      </p:sp>
      <p:sp>
        <p:nvSpPr>
          <p:cNvPr id="41" name="Text 37"/>
          <p:cNvSpPr/>
          <p:nvPr/>
        </p:nvSpPr>
        <p:spPr>
          <a:xfrm>
            <a:off x="8456509" y="5686105"/>
            <a:ext cx="100922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20" b="1" spc="179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LP1 CARD</a:t>
            </a:r>
            <a:endParaRPr lang="en-US" sz="1020" dirty="0"/>
          </a:p>
        </p:txBody>
      </p:sp>
      <p:sp>
        <p:nvSpPr>
          <p:cNvPr id="42" name="Text 38"/>
          <p:cNvSpPr/>
          <p:nvPr/>
        </p:nvSpPr>
        <p:spPr>
          <a:xfrm>
            <a:off x="11687015" y="5686105"/>
            <a:ext cx="113179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20" b="1" spc="179" kern="0" dirty="0">
                <a:solidFill>
                  <a:srgbClr val="B7BB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FV RECALL</a:t>
            </a:r>
            <a:endParaRPr lang="en-US" sz="1020" dirty="0"/>
          </a:p>
        </p:txBody>
      </p:sp>
      <p:sp>
        <p:nvSpPr>
          <p:cNvPr id="43" name="Text 39"/>
          <p:cNvSpPr/>
          <p:nvPr/>
        </p:nvSpPr>
        <p:spPr>
          <a:xfrm>
            <a:off x="731520" y="6029828"/>
            <a:ext cx="1325880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 INTERVAL</a:t>
            </a:r>
            <a:endParaRPr lang="en-US" sz="1080" dirty="0"/>
          </a:p>
        </p:txBody>
      </p:sp>
      <p:sp>
        <p:nvSpPr>
          <p:cNvPr id="44" name="Shape 40"/>
          <p:cNvSpPr/>
          <p:nvPr/>
        </p:nvSpPr>
        <p:spPr>
          <a:xfrm>
            <a:off x="731520" y="6327008"/>
            <a:ext cx="3166110" cy="759592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921990" y="6441308"/>
            <a:ext cx="109933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 risk</a:t>
            </a:r>
            <a:endParaRPr lang="en-US" sz="1620" dirty="0"/>
          </a:p>
        </p:txBody>
      </p:sp>
      <p:sp>
        <p:nvSpPr>
          <p:cNvPr id="46" name="Text 42"/>
          <p:cNvSpPr/>
          <p:nvPr/>
        </p:nvSpPr>
        <p:spPr>
          <a:xfrm>
            <a:off x="921990" y="6723217"/>
            <a:ext cx="207294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3-monthly FV appointment.</a:t>
            </a:r>
            <a:endParaRPr lang="en-US" sz="1140" dirty="0"/>
          </a:p>
        </p:txBody>
      </p:sp>
      <p:sp>
        <p:nvSpPr>
          <p:cNvPr id="47" name="Shape 43"/>
          <p:cNvSpPr/>
          <p:nvPr/>
        </p:nvSpPr>
        <p:spPr>
          <a:xfrm>
            <a:off x="4065240" y="6327008"/>
            <a:ext cx="3166110" cy="759592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255800" y="6441308"/>
            <a:ext cx="106097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Moderate</a:t>
            </a:r>
            <a:endParaRPr lang="en-US" sz="1620" dirty="0"/>
          </a:p>
        </p:txBody>
      </p:sp>
      <p:sp>
        <p:nvSpPr>
          <p:cNvPr id="49" name="Text 45"/>
          <p:cNvSpPr/>
          <p:nvPr/>
        </p:nvSpPr>
        <p:spPr>
          <a:xfrm>
            <a:off x="4255800" y="6723217"/>
            <a:ext cx="180075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6-monthly review / FV.</a:t>
            </a:r>
            <a:endParaRPr lang="en-US" sz="1140" dirty="0"/>
          </a:p>
        </p:txBody>
      </p:sp>
      <p:sp>
        <p:nvSpPr>
          <p:cNvPr id="50" name="Shape 46"/>
          <p:cNvSpPr/>
          <p:nvPr/>
        </p:nvSpPr>
        <p:spPr>
          <a:xfrm>
            <a:off x="7399050" y="6327008"/>
            <a:ext cx="3166110" cy="759592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589520" y="6441308"/>
            <a:ext cx="98618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Low risk</a:t>
            </a:r>
            <a:endParaRPr lang="en-US" sz="1620" dirty="0"/>
          </a:p>
        </p:txBody>
      </p:sp>
      <p:sp>
        <p:nvSpPr>
          <p:cNvPr id="52" name="Text 48"/>
          <p:cNvSpPr/>
          <p:nvPr/>
        </p:nvSpPr>
        <p:spPr>
          <a:xfrm>
            <a:off x="7589520" y="6723217"/>
            <a:ext cx="167480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6-12 monthly review.</a:t>
            </a:r>
            <a:endParaRPr lang="en-US" sz="1140" dirty="0"/>
          </a:p>
        </p:txBody>
      </p:sp>
      <p:sp>
        <p:nvSpPr>
          <p:cNvPr id="53" name="Shape 49"/>
          <p:cNvSpPr/>
          <p:nvPr/>
        </p:nvSpPr>
        <p:spPr>
          <a:xfrm>
            <a:off x="10732770" y="6327008"/>
            <a:ext cx="3166110" cy="759592"/>
          </a:xfrm>
          <a:prstGeom prst="roundRect">
            <a:avLst>
              <a:gd name="adj" fmla="val 24419"/>
            </a:avLst>
          </a:prstGeom>
          <a:solidFill>
            <a:srgbClr val="FFFFFF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0923240" y="6441308"/>
            <a:ext cx="143880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Officer role</a:t>
            </a:r>
            <a:endParaRPr lang="en-US" sz="1620" dirty="0"/>
          </a:p>
        </p:txBody>
      </p:sp>
      <p:sp>
        <p:nvSpPr>
          <p:cNvPr id="55" name="Text 51"/>
          <p:cNvSpPr/>
          <p:nvPr/>
        </p:nvSpPr>
        <p:spPr>
          <a:xfrm>
            <a:off x="10923240" y="6723217"/>
            <a:ext cx="241173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Coordinate message and recall.</a:t>
            </a:r>
            <a:endParaRPr lang="en-US" sz="1140" dirty="0"/>
          </a:p>
        </p:txBody>
      </p:sp>
      <p:sp>
        <p:nvSpPr>
          <p:cNvPr id="56" name="Shape 52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944850" y="7444770"/>
            <a:ext cx="263621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Risk, interval, action.</a:t>
            </a:r>
            <a:endParaRPr lang="en-US" sz="1620" dirty="0"/>
          </a:p>
        </p:txBody>
      </p:sp>
      <p:sp>
        <p:nvSpPr>
          <p:cNvPr id="58" name="Shape 54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58277"/>
            <a:ext cx="7315200" cy="5760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133570"/>
            <a:ext cx="3962370" cy="39623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2372411"/>
            <a:ext cx="487650" cy="1527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39210" y="2261951"/>
            <a:ext cx="200070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TAKE HOME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3213842" y="2261951"/>
            <a:ext cx="455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914400" y="2800939"/>
            <a:ext cx="12893040" cy="10874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47"/>
              </a:lnSpc>
              <a:buNone/>
            </a:pPr>
            <a:r>
              <a:rPr lang="en-US" sz="8880" b="1" spc="-111" kern="0" dirty="0">
                <a:solidFill>
                  <a:srgbClr val="FAFA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Ringkas</a:t>
            </a:r>
            <a:endParaRPr lang="en-US" sz="8880" dirty="0"/>
          </a:p>
        </p:txBody>
      </p:sp>
      <p:sp>
        <p:nvSpPr>
          <p:cNvPr id="10" name="Text 6"/>
          <p:cNvSpPr/>
          <p:nvPr/>
        </p:nvSpPr>
        <p:spPr>
          <a:xfrm>
            <a:off x="914400" y="4000134"/>
            <a:ext cx="479191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AFAF6">
                    <a:alpha val="6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ECC prevention is a team habit.</a:t>
            </a:r>
            <a:endParaRPr lang="en-US" sz="2280" dirty="0"/>
          </a:p>
        </p:txBody>
      </p:sp>
      <p:sp>
        <p:nvSpPr>
          <p:cNvPr id="11" name="Text 7"/>
          <p:cNvSpPr/>
          <p:nvPr/>
        </p:nvSpPr>
        <p:spPr>
          <a:xfrm>
            <a:off x="914400" y="4609765"/>
            <a:ext cx="7656546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FAFAF6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 clearly, classify risk and repeat prevention.</a:t>
            </a:r>
            <a:endParaRPr lang="en-US" sz="1620" dirty="0"/>
          </a:p>
        </p:txBody>
      </p:sp>
      <p:sp>
        <p:nvSpPr>
          <p:cNvPr id="12" name="Shape 8"/>
          <p:cNvSpPr/>
          <p:nvPr/>
        </p:nvSpPr>
        <p:spPr>
          <a:xfrm>
            <a:off x="914400" y="5314584"/>
            <a:ext cx="1029523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FAFAF6">
                <a:alpha val="16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4400" y="5314584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03020" y="5314584"/>
            <a:ext cx="511332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AFAF6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OHE</a:t>
            </a:r>
            <a:endParaRPr lang="en-US" sz="1560" dirty="0"/>
          </a:p>
        </p:txBody>
      </p:sp>
      <p:sp>
        <p:nvSpPr>
          <p:cNvPr id="15" name="Shape 11"/>
          <p:cNvSpPr/>
          <p:nvPr/>
        </p:nvSpPr>
        <p:spPr>
          <a:xfrm>
            <a:off x="2065812" y="5314584"/>
            <a:ext cx="872155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FAFAF6">
                <a:alpha val="16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065812" y="5314584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454432" y="5314584"/>
            <a:ext cx="363322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AFAF6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</a:t>
            </a:r>
            <a:endParaRPr lang="en-US" sz="1560" dirty="0"/>
          </a:p>
        </p:txBody>
      </p:sp>
      <p:sp>
        <p:nvSpPr>
          <p:cNvPr id="18" name="Shape 14"/>
          <p:cNvSpPr/>
          <p:nvPr/>
        </p:nvSpPr>
        <p:spPr>
          <a:xfrm>
            <a:off x="3059948" y="5314584"/>
            <a:ext cx="994044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FAFAF6">
                <a:alpha val="16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059948" y="5314584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48568" y="5314584"/>
            <a:ext cx="49011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AFAF6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CRA</a:t>
            </a:r>
            <a:endParaRPr lang="en-US" sz="1560" dirty="0"/>
          </a:p>
        </p:txBody>
      </p:sp>
      <p:sp>
        <p:nvSpPr>
          <p:cNvPr id="21" name="Shape 17"/>
          <p:cNvSpPr/>
          <p:nvPr/>
        </p:nvSpPr>
        <p:spPr>
          <a:xfrm>
            <a:off x="4175882" y="5314584"/>
            <a:ext cx="84262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FAFAF6">
                <a:alpha val="16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75882" y="5314584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64502" y="5314584"/>
            <a:ext cx="363322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AFAF6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FV</a:t>
            </a:r>
            <a:endParaRPr lang="en-US" sz="1560" dirty="0"/>
          </a:p>
        </p:txBody>
      </p:sp>
      <p:sp>
        <p:nvSpPr>
          <p:cNvPr id="24" name="Shape 20"/>
          <p:cNvSpPr/>
          <p:nvPr/>
        </p:nvSpPr>
        <p:spPr>
          <a:xfrm>
            <a:off x="5140391" y="5314584"/>
            <a:ext cx="1189543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FAFAF6">
                <a:alpha val="16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40391" y="5314584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529011" y="5314584"/>
            <a:ext cx="781355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AFAF6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</a:t>
            </a:r>
            <a:endParaRPr lang="en-US" sz="1560" dirty="0"/>
          </a:p>
        </p:txBody>
      </p:sp>
      <p:sp>
        <p:nvSpPr>
          <p:cNvPr id="27" name="Shape 23"/>
          <p:cNvSpPr/>
          <p:nvPr/>
        </p:nvSpPr>
        <p:spPr>
          <a:xfrm>
            <a:off x="914400" y="740280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27730" y="7307610"/>
            <a:ext cx="2043379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AFAF6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Orderly, friendly.</a:t>
            </a:r>
            <a:endParaRPr lang="en-US" sz="1560" dirty="0"/>
          </a:p>
        </p:txBody>
      </p:sp>
      <p:sp>
        <p:nvSpPr>
          <p:cNvPr id="29" name="Shape 25"/>
          <p:cNvSpPr/>
          <p:nvPr/>
        </p:nvSpPr>
        <p:spPr>
          <a:xfrm>
            <a:off x="1143000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49428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55874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62303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68740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751686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81615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88043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94480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200909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07355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2137837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220221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26649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33095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39524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45961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52398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588362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652644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71710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78139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2845766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291004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297451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303879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310316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316745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23191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296199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36057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42485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48932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355360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361788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368216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DashiAI PPT</dc:creator>
  <cp:lastModifiedBy>DashiAI PPT</cp:lastModifiedBy>
  <cp:revision>1</cp:revision>
  <dcterms:created xsi:type="dcterms:W3CDTF">2026-07-09T16:49:37Z</dcterms:created>
  <dcterms:modified xsi:type="dcterms:W3CDTF">2026-07-09T16:49:37Z</dcterms:modified>
</cp:coreProperties>
</file>